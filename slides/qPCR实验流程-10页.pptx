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0.png"/><Relationship Id="rId10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0.png"/><Relationship Id="rId1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pic>
        <p:nvPicPr>
          <p:cNvPr id="11" name="Picture 10" descr="crop-0-el_cc79d84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7300" y="3162300"/>
            <a:ext cx="4724400" cy="4724400"/>
          </a:xfrm>
          <a:prstGeom prst="rect">
            <a:avLst/>
          </a:prstGeom>
        </p:spPr>
      </p:pic>
      <p:pic>
        <p:nvPicPr>
          <p:cNvPr id="12" name="Picture 11" descr="crop-0-el_def4f8b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57200" y="-457200"/>
            <a:ext cx="3009900" cy="22479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39000" y="952500"/>
            <a:ext cx="4572000" cy="4572000"/>
          </a:xfrm>
          <a:prstGeom prst="ellipse">
            <a:avLst/>
          </a:prstGeom>
          <a:solidFill>
            <a:srgbClr val="F2F7F9"/>
          </a:solidFill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5" name="Picture 14" descr="crop-0-el_be9e51b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877300" y="933450"/>
            <a:ext cx="1295400" cy="38100"/>
          </a:xfrm>
          <a:custGeom>
            <a:avLst/>
            <a:gdLst/>
            <a:ahLst/>
            <a:cxnLst/>
            <a:rect l="0" t="0" r="136" b="4"/>
            <a:pathLst>
              <a:path w="136" h="4">
                <a:moveTo>
                  <a:pt x="0" y="2"/>
                </a:moveTo>
                <a:lnTo>
                  <a:pt x="136" y="2"/>
                </a:lnTo>
              </a:path>
            </a:pathLst>
          </a:custGeom>
          <a:noFill/>
          <a:ln w="19050" cap="rnd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877300" y="2457450"/>
            <a:ext cx="1295400" cy="38100"/>
          </a:xfrm>
          <a:custGeom>
            <a:avLst/>
            <a:gdLst/>
            <a:ahLst/>
            <a:cxnLst/>
            <a:rect l="0" t="0" r="136" b="4"/>
            <a:pathLst>
              <a:path w="136" h="4">
                <a:moveTo>
                  <a:pt x="0" y="2"/>
                </a:moveTo>
                <a:lnTo>
                  <a:pt x="136" y="2"/>
                </a:lnTo>
              </a:path>
            </a:pathLst>
          </a:custGeom>
          <a:noFill/>
          <a:ln w="19050" cap="rnd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877300" y="3981450"/>
            <a:ext cx="1295400" cy="38100"/>
          </a:xfrm>
          <a:custGeom>
            <a:avLst/>
            <a:gdLst/>
            <a:ahLst/>
            <a:cxnLst/>
            <a:rect l="0" t="0" r="136" b="4"/>
            <a:pathLst>
              <a:path w="136" h="4">
                <a:moveTo>
                  <a:pt x="0" y="2"/>
                </a:moveTo>
                <a:lnTo>
                  <a:pt x="136" y="2"/>
                </a:lnTo>
              </a:path>
            </a:pathLst>
          </a:custGeom>
          <a:noFill/>
          <a:ln w="19050" cap="rnd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877300" y="5505450"/>
            <a:ext cx="1295400" cy="38100"/>
          </a:xfrm>
          <a:custGeom>
            <a:avLst/>
            <a:gdLst/>
            <a:ahLst/>
            <a:cxnLst/>
            <a:rect l="0" t="0" r="136" b="4"/>
            <a:pathLst>
              <a:path w="136" h="4">
                <a:moveTo>
                  <a:pt x="0" y="2"/>
                </a:moveTo>
                <a:lnTo>
                  <a:pt x="136" y="2"/>
                </a:lnTo>
              </a:path>
            </a:pathLst>
          </a:custGeom>
          <a:noFill/>
          <a:ln w="19050" cap="rnd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0" y="952500"/>
            <a:ext cx="3810000" cy="4572000"/>
          </a:xfrm>
          <a:custGeom>
            <a:avLst/>
            <a:gdLst/>
            <a:ahLst/>
            <a:cxnLst/>
            <a:rect l="0" t="0" r="400" b="480"/>
            <a:pathLst>
              <a:path w="400" h="480">
                <a:moveTo>
                  <a:pt x="268" y="0"/>
                </a:moveTo>
                <a:cubicBezTo>
                  <a:pt x="268" y="29"/>
                  <a:pt x="132" y="51"/>
                  <a:pt x="132" y="80"/>
                </a:cubicBezTo>
                <a:cubicBezTo>
                  <a:pt x="132" y="109"/>
                  <a:pt x="268" y="131"/>
                  <a:pt x="268" y="160"/>
                </a:cubicBezTo>
                <a:cubicBezTo>
                  <a:pt x="268" y="189"/>
                  <a:pt x="132" y="211"/>
                  <a:pt x="132" y="240"/>
                </a:cubicBezTo>
                <a:cubicBezTo>
                  <a:pt x="132" y="269"/>
                  <a:pt x="268" y="291"/>
                  <a:pt x="268" y="320"/>
                </a:cubicBezTo>
                <a:cubicBezTo>
                  <a:pt x="268" y="349"/>
                  <a:pt x="132" y="371"/>
                  <a:pt x="132" y="400"/>
                </a:cubicBezTo>
                <a:cubicBezTo>
                  <a:pt x="132" y="429"/>
                  <a:pt x="268" y="451"/>
                  <a:pt x="268" y="480"/>
                </a:cubicBezTo>
              </a:path>
            </a:pathLst>
          </a:custGeom>
          <a:noFill/>
          <a:ln w="38100" cap="rnd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620000" y="952500"/>
            <a:ext cx="3810000" cy="4572000"/>
          </a:xfrm>
          <a:custGeom>
            <a:avLst/>
            <a:gdLst/>
            <a:ahLst/>
            <a:cxnLst/>
            <a:rect l="0" t="0" r="400" b="480"/>
            <a:pathLst>
              <a:path w="400" h="480">
                <a:moveTo>
                  <a:pt x="132" y="0"/>
                </a:moveTo>
                <a:cubicBezTo>
                  <a:pt x="132" y="29"/>
                  <a:pt x="268" y="51"/>
                  <a:pt x="268" y="80"/>
                </a:cubicBezTo>
                <a:cubicBezTo>
                  <a:pt x="268" y="109"/>
                  <a:pt x="132" y="131"/>
                  <a:pt x="132" y="160"/>
                </a:cubicBezTo>
                <a:cubicBezTo>
                  <a:pt x="132" y="189"/>
                  <a:pt x="268" y="211"/>
                  <a:pt x="268" y="240"/>
                </a:cubicBezTo>
                <a:cubicBezTo>
                  <a:pt x="268" y="269"/>
                  <a:pt x="132" y="291"/>
                  <a:pt x="132" y="320"/>
                </a:cubicBezTo>
                <a:cubicBezTo>
                  <a:pt x="132" y="349"/>
                  <a:pt x="268" y="371"/>
                  <a:pt x="268" y="400"/>
                </a:cubicBezTo>
                <a:cubicBezTo>
                  <a:pt x="268" y="429"/>
                  <a:pt x="132" y="451"/>
                  <a:pt x="132" y="480"/>
                </a:cubicBezTo>
              </a:path>
            </a:pathLst>
          </a:custGeom>
          <a:noFill/>
          <a:ln w="27940" cap="rnd">
            <a:solidFill>
              <a:srgbClr val="12263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2500" y="990600"/>
            <a:ext cx="628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1" i="0" spc="112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MOLECULAR BIOLOGY PLATFORM · STANDARD OPERATING 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1447800"/>
            <a:ext cx="590550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6270"/>
              </a:lnSpc>
            </a:pPr>
            <a:r>
              <a:rPr sz="5700" b="1" i="0" spc="-112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qPCR 实验流程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500" y="2705100"/>
            <a:ext cx="685800" cy="4762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2500" y="2952750"/>
            <a:ext cx="6096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10"/>
              </a:lnSpc>
            </a:pPr>
            <a:r>
              <a:rPr sz="18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实时荧光定量 PCR 标准操作全流程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2500" y="369570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2F7F9"/>
          </a:solidFill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52500" y="5829300"/>
            <a:ext cx="102870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2500" y="6076950"/>
            <a:ext cx="6667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 spc="38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实验室分子生物学平台 · 标准操作规范 v2.1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076950"/>
            <a:ext cx="952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580"/>
              </a:lnSpc>
            </a:pPr>
            <a:r>
              <a:rPr sz="1050" b="1" i="0" spc="75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1100" y="3867150"/>
            <a:ext cx="38100" cy="3429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409700" y="3829050"/>
            <a:ext cx="4667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40"/>
              </a:lnSpc>
            </a:pPr>
            <a:r>
              <a:rPr sz="142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从样本到 Ct 值，每一步都可控、可复现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81075" y="2000250"/>
            <a:ext cx="19050" cy="361950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95400" y="25146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295400" y="32004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295400" y="38862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5400" y="45720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295400" y="52578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95400" y="5943600"/>
            <a:ext cx="9982200" cy="9525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9" name="Picture 18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14400" y="1581150"/>
            <a:ext cx="609600" cy="381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33450" y="20383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33450" y="27241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33450" y="34099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33450" y="40957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33450" y="47815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33450" y="5467350"/>
            <a:ext cx="114300" cy="1143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3400"/>
            <a:ext cx="400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 spc="15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819150"/>
            <a:ext cx="400050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4950"/>
              </a:lnSpc>
            </a:pPr>
            <a:r>
              <a:rPr sz="3300" b="1" i="0" spc="15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400" y="19240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5400" y="26098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5400" y="32956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5400" y="39814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5400" y="46672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5400" y="5353050"/>
            <a:ext cx="7239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1700" y="19050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样本采集与 RNA 提取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1700" y="22098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从组织/细胞到高纯度总 RNA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1700" y="25908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逆转录与引物设计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1700" y="28956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cDNA 合成与引物特异性验证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1700" y="32766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反应体系配置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71700" y="35814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20 µL 体系与组分浓度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71700" y="39624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热循环三阶段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1700" y="42672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变性、退火、延伸的温度与时间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71700" y="46482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扩增曲线与 Ct 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1700" y="49530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定量原理与标准曲线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1700" y="5334000"/>
            <a:ext cx="59055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60"/>
              </a:lnSpc>
            </a:pPr>
            <a:r>
              <a:rPr sz="15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熔解曲线与特异性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71700" y="56388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产物单一性判定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286500"/>
            <a:ext cx="762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9600" y="4381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620000" y="1447800"/>
            <a:ext cx="3962400" cy="4438650"/>
          </a:xfrm>
          <a:prstGeom prst="roundRect">
            <a:avLst>
              <a:gd name="adj" fmla="val 2884"/>
            </a:avLst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5" name="Picture 14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02581" y="1964531"/>
            <a:ext cx="109537" cy="280987"/>
          </a:xfrm>
          <a:custGeom>
            <a:avLst/>
            <a:gdLst/>
            <a:ahLst/>
            <a:cxnLst/>
            <a:rect l="0" t="0" r="11" b="29"/>
            <a:pathLst>
              <a:path w="11" h="29" fill="none">
                <a:moveTo>
                  <a:pt x="6" y="2"/>
                </a:moveTo>
                <a:lnTo>
                  <a:pt x="6" y="28"/>
                </a:lnTo>
              </a:path>
            </a:pathLst>
          </a:custGeom>
          <a:noFill/>
          <a:ln w="13970" cap="flat">
            <a:solidFill>
              <a:srgbClr val="0E7C86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602581" y="2745581"/>
            <a:ext cx="109537" cy="280987"/>
          </a:xfrm>
          <a:custGeom>
            <a:avLst/>
            <a:gdLst/>
            <a:ahLst/>
            <a:cxnLst/>
            <a:rect l="0" t="0" r="11" b="29"/>
            <a:pathLst>
              <a:path w="11" h="29" fill="none">
                <a:moveTo>
                  <a:pt x="6" y="2"/>
                </a:moveTo>
                <a:lnTo>
                  <a:pt x="6" y="28"/>
                </a:lnTo>
              </a:path>
            </a:pathLst>
          </a:custGeom>
          <a:noFill/>
          <a:ln w="13970" cap="flat">
            <a:solidFill>
              <a:srgbClr val="0E7C86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602581" y="3526631"/>
            <a:ext cx="109537" cy="280987"/>
          </a:xfrm>
          <a:custGeom>
            <a:avLst/>
            <a:gdLst/>
            <a:ahLst/>
            <a:cxnLst/>
            <a:rect l="0" t="0" r="11" b="29"/>
            <a:pathLst>
              <a:path w="11" h="29" fill="none">
                <a:moveTo>
                  <a:pt x="6" y="2"/>
                </a:moveTo>
                <a:lnTo>
                  <a:pt x="6" y="28"/>
                </a:lnTo>
              </a:path>
            </a:pathLst>
          </a:custGeom>
          <a:noFill/>
          <a:ln w="13970" cap="flat">
            <a:solidFill>
              <a:srgbClr val="0E7C86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602581" y="4307681"/>
            <a:ext cx="109537" cy="280987"/>
          </a:xfrm>
          <a:custGeom>
            <a:avLst/>
            <a:gdLst/>
            <a:ahLst/>
            <a:cxnLst/>
            <a:rect l="0" t="0" r="11" b="29"/>
            <a:pathLst>
              <a:path w="11" h="29" fill="none">
                <a:moveTo>
                  <a:pt x="6" y="2"/>
                </a:moveTo>
                <a:lnTo>
                  <a:pt x="6" y="28"/>
                </a:lnTo>
              </a:path>
            </a:pathLst>
          </a:custGeom>
          <a:noFill/>
          <a:ln w="13970" cap="flat">
            <a:solidFill>
              <a:srgbClr val="0E7C86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602581" y="5088731"/>
            <a:ext cx="109537" cy="280987"/>
          </a:xfrm>
          <a:custGeom>
            <a:avLst/>
            <a:gdLst/>
            <a:ahLst/>
            <a:cxnLst/>
            <a:rect l="0" t="0" r="11" b="29"/>
            <a:pathLst>
              <a:path w="11" h="29" fill="none">
                <a:moveTo>
                  <a:pt x="6" y="2"/>
                </a:moveTo>
                <a:lnTo>
                  <a:pt x="6" y="28"/>
                </a:lnTo>
              </a:path>
            </a:pathLst>
          </a:custGeom>
          <a:noFill/>
          <a:ln w="13970" cap="flat">
            <a:solidFill>
              <a:srgbClr val="0E7C86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144780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9600" y="222885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9600" y="300990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09600" y="379095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09600" y="457200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9600" y="5353050"/>
            <a:ext cx="2095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42950" y="157162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42950" y="235267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42950" y="313372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42950" y="391477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2950" y="469582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42950" y="5476875"/>
            <a:ext cx="285750" cy="28575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924800" y="2038350"/>
            <a:ext cx="38100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24800" y="2390775"/>
            <a:ext cx="76200" cy="762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924800" y="3457575"/>
            <a:ext cx="76200" cy="762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924800" y="4524375"/>
            <a:ext cx="76200" cy="762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8200" y="400050"/>
            <a:ext cx="7810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样本采集与 RNA 提取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876300"/>
            <a:ext cx="7429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六步流程 · 从原始样本到可用于逆转录的总 RNA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157162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3950" y="144780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样本采集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4650" y="144780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组织离体后立即液氮速冻或 RNAlater 保存；细胞 PBS 洗涤后直接裂解，全程冰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上操作。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235267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3950" y="222885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样本裂解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14650" y="222885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加入含胍盐裂解液（TRIzol）充分匀浆，破裂细胞膜与核膜，使 RNase 失活。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313372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3950" y="300990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相分离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14650" y="300990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加氯仿离心后分三层：上层无色水相（含 RNA）、中层白色蛋白、下层红色有机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相。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391477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3950" y="379095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RNA 沉淀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14650" y="379095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吸取水相，加入等体积异丙醇，−20 ℃ 静置沉淀 RNA。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469582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3950" y="457200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洗涤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4650" y="457200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75% 乙醇洗涤沉淀两次，去除盐离子与残留胍盐。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950" y="5476875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89"/>
              </a:lnSpc>
            </a:pPr>
            <a:r>
              <a:rPr sz="11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3950" y="5353050"/>
            <a:ext cx="1504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溶解与质检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14650" y="5353050"/>
            <a:ext cx="4476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无 RNase 水溶解，测 A260/A280 与 A260/A230，电泳确认 28S/18S 条带。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24800" y="1714500"/>
            <a:ext cx="33528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20"/>
              </a:lnSpc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关键控制点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5300" y="2324100"/>
            <a:ext cx="3200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全程无 RNase 操作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5300" y="257175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耗材、枪头、溶液均需无 RNase；全程冰上操作，避免 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RNA 降解。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5300" y="3390900"/>
            <a:ext cx="3200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A260/A280 &lt; 1.8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15300" y="363855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提示蛋白污染；理想比值 1.9–2.1，可重复沉淀纯化。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15300" y="4457700"/>
            <a:ext cx="3200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A260/A230 &lt; 1.8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5300" y="470535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提示胍盐或酚残留，会抑制后续逆转录反应。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4800" y="5391150"/>
            <a:ext cx="33909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质检合格再进入逆转录：无 RNase、低蛋白、低胍盐残留。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1485900"/>
            <a:ext cx="5372100" cy="4552950"/>
          </a:xfrm>
          <a:prstGeom prst="roundRect">
            <a:avLst>
              <a:gd name="adj" fmla="val 1673"/>
            </a:avLst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248400" y="1485900"/>
            <a:ext cx="5372100" cy="4552950"/>
          </a:xfrm>
          <a:prstGeom prst="roundRect">
            <a:avLst>
              <a:gd name="adj" fmla="val 1673"/>
            </a:avLst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933450"/>
            <a:ext cx="6858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逆转录与引物设计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1695450"/>
            <a:ext cx="4191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60"/>
              </a:lnSpc>
            </a:pPr>
            <a:r>
              <a:rPr sz="128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一、逆转录（RT）反应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038350"/>
            <a:ext cx="48768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模板：总 RNA 0.5–2 µg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324100"/>
            <a:ext cx="48768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引物选择：Oligo(dT) 适合真核 mRNA（结合 poly-A 尾）；随机六聚体适合降解样本与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无 poly-A 尾的 RNA；基因特异性引物特异性最高。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30289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反应条件 · 温度–时间阶梯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8250" y="5391150"/>
            <a:ext cx="43815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0100" y="5524500"/>
            <a:ext cx="48768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产物：cDNA，可立即用于 qPCR 或 −20 ℃ 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1695450"/>
            <a:ext cx="4191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60"/>
              </a:lnSpc>
            </a:pPr>
            <a:r>
              <a:rPr sz="128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二、引物设计要点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20574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2057400"/>
            <a:ext cx="37719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18–24 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5100" y="2362200"/>
            <a:ext cx="48768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15100" y="24384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GC 含量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2438400"/>
            <a:ext cx="37719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40%–60%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5100" y="2743200"/>
            <a:ext cx="48768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5100" y="28194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Tm 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0" y="2819400"/>
            <a:ext cx="10477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55–65 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0" y="2819400"/>
            <a:ext cx="26289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上下游 Tm 差 ≤ 2 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5100" y="3124200"/>
            <a:ext cx="48768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15100" y="32004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扩增产物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0" y="3200400"/>
            <a:ext cx="10477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80–200 bp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0" y="3200400"/>
            <a:ext cx="26289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（qPCR 优选）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5100" y="3505200"/>
            <a:ext cx="48768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15100" y="35814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3′ 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0" y="3581400"/>
            <a:ext cx="37719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避免连续 3 个以上相同碱基，避免自身二聚体与发夹结构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5100" y="4114800"/>
            <a:ext cx="48768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15100" y="41910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跨外显子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4191000"/>
            <a:ext cx="37719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跨外显子–外显子连接处设计，可避免基因组 DNA 干扰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67500" y="5486400"/>
            <a:ext cx="4724400" cy="9525"/>
          </a:xfrm>
          <a:prstGeom prst="line">
            <a:avLst/>
          </a:prstGeom>
          <a:noFill/>
          <a:ln w="1905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238250" y="5048250"/>
            <a:ext cx="666750" cy="9525"/>
          </a:xfrm>
          <a:prstGeom prst="line">
            <a:avLst/>
          </a:prstGeom>
          <a:noFill/>
          <a:ln w="2794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905000" y="4476750"/>
            <a:ext cx="9525" cy="571500"/>
          </a:xfrm>
          <a:prstGeom prst="line">
            <a:avLst/>
          </a:prstGeom>
          <a:noFill/>
          <a:ln w="2794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905000" y="4476750"/>
            <a:ext cx="3048000" cy="9525"/>
          </a:xfrm>
          <a:prstGeom prst="line">
            <a:avLst/>
          </a:prstGeom>
          <a:noFill/>
          <a:ln w="2794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953000" y="3810000"/>
            <a:ext cx="9525" cy="666750"/>
          </a:xfrm>
          <a:prstGeom prst="line">
            <a:avLst/>
          </a:prstGeom>
          <a:noFill/>
          <a:ln w="2794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4953000" y="3810000"/>
            <a:ext cx="419100" cy="9525"/>
          </a:xfrm>
          <a:prstGeom prst="line">
            <a:avLst/>
          </a:prstGeom>
          <a:noFill/>
          <a:ln w="2794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38250" y="5105400"/>
            <a:ext cx="16192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25 ℃ · 5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00250" y="4229100"/>
            <a:ext cx="2476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42–50 ℃ · 15–30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500" y="3581400"/>
            <a:ext cx="17526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85 ℃ · 5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67500" y="5200650"/>
            <a:ext cx="1066800" cy="190500"/>
          </a:xfrm>
          <a:prstGeom prst="rightArrow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0325100" y="5600700"/>
            <a:ext cx="1066800" cy="190500"/>
          </a:xfrm>
          <a:prstGeom prst="leftArrow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67500" y="4972050"/>
            <a:ext cx="1905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7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正向引物 5′→3′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3400" y="5200650"/>
            <a:ext cx="1714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70"/>
              </a:lnSpc>
            </a:pPr>
            <a:r>
              <a:rPr sz="819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扩增产物 80–200 bp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86900" y="5829300"/>
            <a:ext cx="1905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07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反向引物 5′→3′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409700"/>
            <a:ext cx="533400" cy="381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667500" y="1924050"/>
            <a:ext cx="2476500" cy="5143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144000" y="1924050"/>
            <a:ext cx="95250" cy="514350"/>
          </a:xfrm>
          <a:prstGeom prst="rect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239250" y="1924050"/>
            <a:ext cx="95250" cy="514350"/>
          </a:xfrm>
          <a:prstGeom prst="rect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334500" y="1924050"/>
            <a:ext cx="495300" cy="514350"/>
          </a:xfrm>
          <a:prstGeom prst="rect">
            <a:avLst/>
          </a:prstGeom>
          <a:solidFill>
            <a:srgbClr val="5B7186"/>
          </a:solidFill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829800" y="1924050"/>
            <a:ext cx="1790700" cy="51435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67500" y="2705100"/>
            <a:ext cx="95250" cy="952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67500" y="2952750"/>
            <a:ext cx="95250" cy="95250"/>
          </a:xfrm>
          <a:prstGeom prst="rect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67500" y="3200400"/>
            <a:ext cx="95250" cy="95250"/>
          </a:xfrm>
          <a:prstGeom prst="rect">
            <a:avLst/>
          </a:prstGeom>
          <a:solidFill>
            <a:srgbClr val="5B7186"/>
          </a:solidFill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67500" y="3448050"/>
            <a:ext cx="95250" cy="9525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667500" y="3771900"/>
            <a:ext cx="4953000" cy="800100"/>
          </a:xfrm>
          <a:prstGeom prst="roundRect">
            <a:avLst>
              <a:gd name="adj" fmla="val 11904"/>
            </a:avLst>
          </a:prstGeom>
          <a:solidFill>
            <a:srgbClr val="F2F7F9"/>
          </a:solidFill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971550"/>
            <a:ext cx="7429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540"/>
              </a:lnSpc>
            </a:pPr>
            <a:r>
              <a:rPr sz="19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反应体系配置（20 µL 标准体系）</a:t>
            </a:r>
          </a:p>
        </p:txBody>
      </p:sp>
      <p:pic>
        <p:nvPicPr>
          <p:cNvPr id="27" name="Picture 26" descr="crop-4-el_8fe00c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" y="1162050"/>
            <a:ext cx="6819900" cy="3886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67500" y="1581150"/>
            <a:ext cx="4953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20 µL 体系体积占比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2076450"/>
            <a:ext cx="2476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0" y="2076450"/>
            <a:ext cx="4953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990"/>
              </a:lnSpc>
            </a:pPr>
            <a:r>
              <a:rPr sz="8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076450"/>
            <a:ext cx="17907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1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36%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647950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2× SYBR Green Master Mix　10.0 µL｜50%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95600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正向引物 / 反向引物 (10 µM)　0.8 µL｜4%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143250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cDNA 模板　2.0 µL｜10%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390900"/>
            <a:ext cx="4762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无 RNase 水　7.2 µL｜36%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6100" y="3886200"/>
            <a:ext cx="44958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主混液（N + 10% 余量）：Master Mix + 引物 + 水 = 18.0 µL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模板 cDNA：2.0 µL（最后加入，加后短暂离心）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4705350"/>
            <a:ext cx="2286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配置要点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4991100"/>
            <a:ext cx="590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先配主混液（Master Mix + 引物 + 水），按反应数 +10% 余量配制，减少孔间差异。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5257800"/>
            <a:ext cx="590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模板最后加，加样后短暂离心去除气泡。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5524500"/>
            <a:ext cx="590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每个样本设 3 个技术重复；每板必设无模板对照（NTC）与无逆转录对照（NRT）。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791200"/>
            <a:ext cx="590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全程避光、冰上操作，SYBR Green 见光易淬灭。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1952625"/>
            <a:ext cx="93345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619250" y="2809875"/>
            <a:ext cx="93345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619250" y="3286125"/>
            <a:ext cx="93345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619250" y="1762125"/>
            <a:ext cx="9525" cy="2047875"/>
          </a:xfrm>
          <a:prstGeom prst="line">
            <a:avLst/>
          </a:prstGeom>
          <a:noFill/>
          <a:ln w="1397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619250" y="3810000"/>
            <a:ext cx="9334500" cy="9525"/>
          </a:xfrm>
          <a:prstGeom prst="line">
            <a:avLst/>
          </a:prstGeom>
          <a:noFill/>
          <a:ln w="1397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1838325"/>
            <a:ext cx="6286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95 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95575"/>
            <a:ext cx="6286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72 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71825"/>
            <a:ext cx="6286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60 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552575"/>
            <a:ext cx="7048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温度 (℃)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848100"/>
            <a:ext cx="6667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时间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91125" y="1952625"/>
            <a:ext cx="9525" cy="1333500"/>
          </a:xfrm>
          <a:prstGeom prst="line">
            <a:avLst/>
          </a:prstGeom>
          <a:noFill/>
          <a:ln w="10160" cap="flat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72250" y="1952625"/>
            <a:ext cx="9525" cy="1333500"/>
          </a:xfrm>
          <a:prstGeom prst="line">
            <a:avLst/>
          </a:prstGeom>
          <a:noFill/>
          <a:ln w="10160" cap="flat">
            <a:solidFill>
              <a:srgbClr val="D8E2EA"/>
            </a:solidFill>
            <a:prstDash val="dash"/>
            <a:miter/>
          </a:ln>
        </p:spPr>
        <p:txBody>
          <a:bodyPr rtlCol="0" anchor="ctr"/>
          <a:lstStyle/>
          <a:p/>
        </p:txBody>
      </p:sp>
      <p:pic>
        <p:nvPicPr>
          <p:cNvPr id="27" name="Picture 26" descr="crop-5-el_168fb9f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019550"/>
            <a:ext cx="2209800" cy="22098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048000" y="4400550"/>
            <a:ext cx="8572500" cy="1543050"/>
          </a:xfrm>
          <a:prstGeom prst="roundRect">
            <a:avLst>
              <a:gd name="adj" fmla="val 6172"/>
            </a:avLst>
          </a:prstGeom>
          <a:solidFill>
            <a:srgbClr val="F2F7F9"/>
          </a:solidFill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895350"/>
            <a:ext cx="4381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22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热循环三阶段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971550"/>
            <a:ext cx="47244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470"/>
              </a:lnSpc>
            </a:pPr>
            <a:r>
              <a:rPr sz="1050" b="0" i="0" spc="75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变性 · 退火 · 延伸 · 熔解曲线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1333500"/>
            <a:ext cx="533400" cy="381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619250" y="1952625"/>
            <a:ext cx="3543300" cy="1333500"/>
          </a:xfrm>
          <a:custGeom>
            <a:avLst/>
            <a:gdLst/>
            <a:ahLst/>
            <a:cxnLst/>
            <a:rect l="0" t="0" r="372" b="140"/>
            <a:pathLst>
              <a:path w="372" h="140">
                <a:moveTo>
                  <a:pt x="0" y="0"/>
                </a:moveTo>
                <a:lnTo>
                  <a:pt x="60" y="0"/>
                </a:lnTo>
                <a:lnTo>
                  <a:pt x="72" y="140"/>
                </a:lnTo>
                <a:lnTo>
                  <a:pt x="132" y="140"/>
                </a:lnTo>
                <a:lnTo>
                  <a:pt x="144" y="90"/>
                </a:lnTo>
                <a:lnTo>
                  <a:pt x="184" y="90"/>
                </a:lnTo>
                <a:lnTo>
                  <a:pt x="196" y="0"/>
                </a:lnTo>
                <a:lnTo>
                  <a:pt x="216" y="0"/>
                </a:lnTo>
                <a:lnTo>
                  <a:pt x="228" y="140"/>
                </a:lnTo>
                <a:lnTo>
                  <a:pt x="288" y="140"/>
                </a:lnTo>
                <a:lnTo>
                  <a:pt x="300" y="90"/>
                </a:lnTo>
                <a:lnTo>
                  <a:pt x="340" y="90"/>
                </a:lnTo>
                <a:lnTo>
                  <a:pt x="352" y="0"/>
                </a:lnTo>
                <a:lnTo>
                  <a:pt x="372" y="0"/>
                </a:lnTo>
              </a:path>
            </a:pathLst>
          </a:custGeom>
          <a:noFill/>
          <a:ln w="24130" cap="flat">
            <a:solidFill>
              <a:srgbClr val="0E7C86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67500" y="1952625"/>
            <a:ext cx="4000500" cy="1333500"/>
          </a:xfrm>
          <a:custGeom>
            <a:avLst/>
            <a:gdLst/>
            <a:ahLst/>
            <a:cxnLst/>
            <a:rect l="0" t="0" r="420" b="140"/>
            <a:pathLst>
              <a:path w="420" h="140">
                <a:moveTo>
                  <a:pt x="0" y="0"/>
                </a:moveTo>
                <a:lnTo>
                  <a:pt x="20" y="0"/>
                </a:lnTo>
                <a:lnTo>
                  <a:pt x="32" y="140"/>
                </a:lnTo>
                <a:lnTo>
                  <a:pt x="92" y="140"/>
                </a:lnTo>
                <a:lnTo>
                  <a:pt x="104" y="90"/>
                </a:lnTo>
                <a:lnTo>
                  <a:pt x="144" y="90"/>
                </a:lnTo>
                <a:lnTo>
                  <a:pt x="156" y="0"/>
                </a:lnTo>
                <a:lnTo>
                  <a:pt x="176" y="0"/>
                </a:lnTo>
                <a:lnTo>
                  <a:pt x="200" y="140"/>
                </a:lnTo>
                <a:lnTo>
                  <a:pt x="260" y="140"/>
                </a:lnTo>
                <a:lnTo>
                  <a:pt x="420" y="0"/>
                </a:lnTo>
              </a:path>
            </a:pathLst>
          </a:custGeom>
          <a:noFill/>
          <a:ln w="24130" cap="rnd">
            <a:solidFill>
              <a:srgbClr val="0E7C86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91125" y="2362200"/>
            <a:ext cx="13906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循环扩增 ×40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9250" y="1447800"/>
            <a:ext cx="2476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① 预变性 95 ℃ · 30 s · 1 循环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9575" y="1447800"/>
            <a:ext cx="1905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60"/>
              </a:lnSpc>
            </a:pPr>
            <a:r>
              <a:rPr sz="9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② 循环扩增 ×40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0" y="1447800"/>
            <a:ext cx="1333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60"/>
              </a:lnSpc>
            </a:pPr>
            <a:r>
              <a:rPr sz="9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③ 熔解曲线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19250" y="4019550"/>
            <a:ext cx="11430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09750" y="3905250"/>
            <a:ext cx="1905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变性 95 ℃ · 10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05250" y="4019550"/>
            <a:ext cx="11430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095750" y="39052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退火 60 ℃ · 30 s（采荧光）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86500" y="4019550"/>
            <a:ext cx="11430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77000" y="39052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延伸 72 ℃ · 20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" y="4476750"/>
            <a:ext cx="1295400" cy="1295400"/>
          </a:xfrm>
          <a:prstGeom prst="blockArc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276600" y="4533900"/>
            <a:ext cx="1905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原理说明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76600" y="5010150"/>
            <a:ext cx="13335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505200" y="4886325"/>
            <a:ext cx="78867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30"/>
              </a:lnSpc>
            </a:pPr>
            <a:r>
              <a:rPr sz="109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每个循环 DNA 拷贝数理论上翻倍，40 个循环后扩增约 2^40 倍。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6600" y="5391150"/>
            <a:ext cx="13335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505200" y="5267325"/>
            <a:ext cx="78867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30"/>
              </a:lnSpc>
            </a:pPr>
            <a:r>
              <a:rPr sz="109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退火温度通常取引物 Tm 减 3–5 ℃：过高导致扩增效率下降，过低导致非特异性扩增。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6600" y="5772150"/>
            <a:ext cx="13335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505200" y="5648325"/>
            <a:ext cx="78867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30"/>
              </a:lnSpc>
            </a:pPr>
            <a:r>
              <a:rPr sz="109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荧光信号在退火/延伸阶段采集，反映当前循环的产物累积量。</a:t>
            </a:r>
          </a:p>
        </p:txBody>
      </p:sp>
      <p:sp>
        <p:nvSpPr>
          <p:cNvPr id="52" name="Rectangle 51"/>
          <p:cNvSpPr/>
          <p:nvPr/>
        </p:nvSpPr>
        <p:spPr>
          <a:xfrm rot="10800000">
            <a:off x="2276475" y="5067300"/>
            <a:ext cx="171450" cy="152400"/>
          </a:xfrm>
          <a:prstGeom prst="triangl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57300" y="4819650"/>
            <a:ext cx="9144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700"/>
              </a:lnSpc>
            </a:pPr>
            <a:r>
              <a:rPr sz="22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7300" y="5219700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个循环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924550"/>
            <a:ext cx="1752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循环扩增示意 · 40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971550"/>
            <a:ext cx="438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spc="75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 · 定量原理与标准曲线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181100"/>
            <a:ext cx="6667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扩增曲线与 Ct 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1714500"/>
            <a:ext cx="609600" cy="38100"/>
          </a:xfrm>
          <a:prstGeom prst="rect">
            <a:avLst/>
          </a:prstGeom>
          <a:solidFill>
            <a:srgbClr val="0E7C86"/>
          </a:solidFill>
          <a:ln w="1016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2000" y="1885950"/>
            <a:ext cx="457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扩增曲线的四个时期与 Ct 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1885950"/>
            <a:ext cx="5181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标准曲线：Ct 与 log₁₀ 起始拷贝数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095500"/>
            <a:ext cx="1905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荧光强度 (Rn)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7750" y="2286000"/>
            <a:ext cx="14287" cy="2476500"/>
          </a:xfrm>
          <a:prstGeom prst="rect">
            <a:avLst/>
          </a:prstGeom>
          <a:solidFill>
            <a:srgbClr val="5B7186"/>
          </a:solidFill>
          <a:ln w="1016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47750" y="4762500"/>
            <a:ext cx="4762500" cy="14287"/>
          </a:xfrm>
          <a:prstGeom prst="rect">
            <a:avLst/>
          </a:prstGeom>
          <a:solidFill>
            <a:srgbClr val="5B7186"/>
          </a:solidFill>
          <a:ln w="1016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047750" y="3762375"/>
            <a:ext cx="4762500" cy="9525"/>
          </a:xfrm>
          <a:prstGeom prst="line">
            <a:avLst/>
          </a:prstGeom>
          <a:noFill/>
          <a:ln w="13970" cap="flat">
            <a:solidFill>
              <a:srgbClr val="0E7C86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286125" y="3762375"/>
            <a:ext cx="9525" cy="1000125"/>
          </a:xfrm>
          <a:prstGeom prst="line">
            <a:avLst/>
          </a:prstGeom>
          <a:noFill/>
          <a:ln w="10160" cap="flat">
            <a:solidFill>
              <a:srgbClr val="5B7186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3450" y="4819650"/>
            <a:ext cx="2286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4075" y="4819650"/>
            <a:ext cx="2286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4700" y="4819650"/>
            <a:ext cx="2286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5325" y="4819650"/>
            <a:ext cx="2286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5950" y="4819650"/>
            <a:ext cx="2286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7000" y="5029200"/>
            <a:ext cx="1524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循环数 (Cycle)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295900"/>
            <a:ext cx="50482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Ct（Threshold Cycle）＝ 荧光信号首次超过阈值线时对应的循环数。Ct 与起始模板量的对数呈线</a:t>
            </a:r>
          </a:p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性负相关：模板越多，Ct 越小。</a:t>
            </a:r>
          </a:p>
        </p:txBody>
      </p:sp>
      <p:pic>
        <p:nvPicPr>
          <p:cNvPr id="32" name="Picture 31" descr="chart-6-el_f2ed60ec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824133" y="2171700"/>
            <a:ext cx="4030133" cy="2266950"/>
          </a:xfrm>
          <a:prstGeom prst="rect">
            <a:avLst/>
          </a:prstGeom>
        </p:spPr>
      </p:pic>
      <p:pic>
        <p:nvPicPr>
          <p:cNvPr id="33" name="Picture 32" descr="crop-6-el_4607eb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4095750"/>
            <a:ext cx="6096000" cy="2076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48400" y="5772150"/>
            <a:ext cx="51816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扩增效率 E = 90%–110%（理想斜率 -3.32 → E = 100%）· R² ≥ 0.99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7750" y="2324100"/>
            <a:ext cx="4762500" cy="2476500"/>
          </a:xfrm>
          <a:custGeom>
            <a:avLst/>
            <a:gdLst/>
            <a:ahLst/>
            <a:cxnLst/>
            <a:rect l="0" t="0" r="500" b="260"/>
            <a:pathLst>
              <a:path w="500" h="260">
                <a:moveTo>
                  <a:pt x="0" y="216"/>
                </a:moveTo>
                <a:cubicBezTo>
                  <a:pt x="55" y="215"/>
                  <a:pt x="105" y="212"/>
                  <a:pt x="150" y="204"/>
                </a:cubicBezTo>
                <a:cubicBezTo>
                  <a:pt x="195" y="196"/>
                  <a:pt x="220" y="172"/>
                  <a:pt x="250" y="140"/>
                </a:cubicBezTo>
                <a:cubicBezTo>
                  <a:pt x="280" y="108"/>
                  <a:pt x="300" y="84"/>
                  <a:pt x="340" y="60"/>
                </a:cubicBezTo>
                <a:cubicBezTo>
                  <a:pt x="380" y="36"/>
                  <a:pt x="430" y="30"/>
                  <a:pt x="500" y="28"/>
                </a:cubicBezTo>
              </a:path>
            </a:pathLst>
          </a:custGeom>
          <a:noFill/>
          <a:ln w="2413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95375" y="3505200"/>
            <a:ext cx="12382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20"/>
              </a:lnSpc>
            </a:pPr>
            <a:r>
              <a:rPr sz="75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阈值线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467100"/>
            <a:ext cx="6096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Ct 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1100" y="2495550"/>
            <a:ext cx="2476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① 基线期　循环 1–15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1100" y="2705100"/>
            <a:ext cx="2476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② 指数期　循环 16–30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1100" y="2914650"/>
            <a:ext cx="2476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③ 线性期　循环 31–35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1100" y="3124200"/>
            <a:ext cx="2476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④ 平台期　循环 36–40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19450" y="3695700"/>
            <a:ext cx="133350" cy="133350"/>
          </a:xfrm>
          <a:prstGeom prst="ellipse">
            <a:avLst/>
          </a:prstGeom>
          <a:solidFill>
            <a:srgbClr val="0E7C86"/>
          </a:solidFill>
          <a:ln w="19050" cap="flat">
            <a:solidFill>
              <a:srgbClr val="FFFFFF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657350" y="4257675"/>
            <a:ext cx="114300" cy="1143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895600" y="3962400"/>
            <a:ext cx="114300" cy="1143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229100" y="2800350"/>
            <a:ext cx="114300" cy="1143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276850" y="2600325"/>
            <a:ext cx="114300" cy="1143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0E7C86"/>
            </a:solidFill>
            <a:miter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38150"/>
            <a:ext cx="57150" cy="3810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9600" y="1428750"/>
            <a:ext cx="3543300" cy="2343150"/>
          </a:xfrm>
          <a:prstGeom prst="roundRect">
            <a:avLst/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05300" y="1428750"/>
            <a:ext cx="3543300" cy="2343150"/>
          </a:xfrm>
          <a:prstGeom prst="roundRect">
            <a:avLst/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01000" y="1428750"/>
            <a:ext cx="3581400" cy="2343150"/>
          </a:xfrm>
          <a:prstGeom prst="roundRect">
            <a:avLst/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9600" y="3924300"/>
            <a:ext cx="7048500" cy="2095500"/>
          </a:xfrm>
          <a:prstGeom prst="roundRect">
            <a:avLst/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848600" y="3924300"/>
            <a:ext cx="3733800" cy="2095500"/>
          </a:xfrm>
          <a:prstGeom prst="roundRect">
            <a:avLst/>
          </a:prstGeom>
          <a:solidFill>
            <a:srgbClr val="F2F7F9"/>
          </a:solidFill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8200" y="400050"/>
            <a:ext cx="7810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379"/>
              </a:lnSpc>
            </a:pPr>
            <a:r>
              <a:rPr sz="22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熔解曲线与特异性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876300"/>
            <a:ext cx="7810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单峰即特异 · 用熔解曲线判定产物单一性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866900"/>
            <a:ext cx="762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-dF/dT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1100" y="2095500"/>
            <a:ext cx="9525" cy="1219200"/>
          </a:xfrm>
          <a:prstGeom prst="line">
            <a:avLst/>
          </a:prstGeom>
          <a:noFill/>
          <a:ln w="1143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81100" y="3314700"/>
            <a:ext cx="2762250" cy="9525"/>
          </a:xfrm>
          <a:prstGeom prst="line">
            <a:avLst/>
          </a:prstGeom>
          <a:noFill/>
          <a:ln w="1143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076575" y="2228850"/>
            <a:ext cx="9525" cy="1085850"/>
          </a:xfrm>
          <a:prstGeom prst="line">
            <a:avLst/>
          </a:prstGeom>
          <a:noFill/>
          <a:ln w="10160" cap="flat">
            <a:solidFill>
              <a:srgbClr val="5B7186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85850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6950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2325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1350" y="3505200"/>
            <a:ext cx="762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温度 (℃)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1500" y="1866900"/>
            <a:ext cx="762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-dF/dT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6800" y="2095500"/>
            <a:ext cx="9525" cy="1219200"/>
          </a:xfrm>
          <a:prstGeom prst="line">
            <a:avLst/>
          </a:prstGeom>
          <a:noFill/>
          <a:ln w="1143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876800" y="3314700"/>
            <a:ext cx="2762250" cy="9525"/>
          </a:xfrm>
          <a:prstGeom prst="line">
            <a:avLst/>
          </a:prstGeom>
          <a:noFill/>
          <a:ln w="11430" cap="flat">
            <a:solidFill>
              <a:srgbClr val="5B7186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10350" y="2228850"/>
            <a:ext cx="9525" cy="1085850"/>
          </a:xfrm>
          <a:prstGeom prst="line">
            <a:avLst/>
          </a:prstGeom>
          <a:noFill/>
          <a:ln w="10160" cap="flat">
            <a:solidFill>
              <a:srgbClr val="5B7186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086600" y="2514600"/>
            <a:ext cx="9525" cy="800100"/>
          </a:xfrm>
          <a:prstGeom prst="line">
            <a:avLst/>
          </a:prstGeom>
          <a:noFill/>
          <a:ln w="10160" cap="flat">
            <a:solidFill>
              <a:srgbClr val="5B7186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781550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2650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8025" y="3352800"/>
            <a:ext cx="190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7050" y="3505200"/>
            <a:ext cx="762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120"/>
              </a:lnSpc>
            </a:pPr>
            <a:r>
              <a:rPr sz="7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温度 (℃)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" y="1543050"/>
            <a:ext cx="2190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正常 · 单一尖锐峰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90900" y="1524000"/>
            <a:ext cx="609600" cy="209550"/>
          </a:xfrm>
          <a:prstGeom prst="round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181100" y="2228850"/>
            <a:ext cx="2762250" cy="1085850"/>
          </a:xfrm>
          <a:custGeom>
            <a:avLst/>
            <a:gdLst/>
            <a:ahLst/>
            <a:cxnLst/>
            <a:rect l="0" t="0" r="290" b="114"/>
            <a:pathLst>
              <a:path w="290" h="114">
                <a:moveTo>
                  <a:pt x="0" y="114"/>
                </a:moveTo>
                <a:lnTo>
                  <a:pt x="70" y="112"/>
                </a:lnTo>
                <a:lnTo>
                  <a:pt x="130" y="107"/>
                </a:lnTo>
                <a:lnTo>
                  <a:pt x="165" y="95"/>
                </a:lnTo>
                <a:lnTo>
                  <a:pt x="182" y="69"/>
                </a:lnTo>
                <a:lnTo>
                  <a:pt x="199" y="0"/>
                </a:lnTo>
                <a:lnTo>
                  <a:pt x="216" y="71"/>
                </a:lnTo>
                <a:lnTo>
                  <a:pt x="234" y="97"/>
                </a:lnTo>
                <a:lnTo>
                  <a:pt x="270" y="109"/>
                </a:lnTo>
                <a:lnTo>
                  <a:pt x="290" y="113"/>
                </a:lnTo>
              </a:path>
            </a:pathLst>
          </a:custGeom>
          <a:noFill/>
          <a:ln w="24130" cap="rnd">
            <a:solidFill>
              <a:srgbClr val="0E7C86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495800" y="1543050"/>
            <a:ext cx="2190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异常 · 双峰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1524000"/>
            <a:ext cx="609600" cy="209550"/>
          </a:xfrm>
          <a:prstGeom prst="roundRect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876800" y="2228850"/>
            <a:ext cx="2762250" cy="1085850"/>
          </a:xfrm>
          <a:custGeom>
            <a:avLst/>
            <a:gdLst/>
            <a:ahLst/>
            <a:cxnLst/>
            <a:rect l="0" t="0" r="290" b="114"/>
            <a:pathLst>
              <a:path w="290" h="114">
                <a:moveTo>
                  <a:pt x="0" y="114"/>
                </a:moveTo>
                <a:lnTo>
                  <a:pt x="60" y="112"/>
                </a:lnTo>
                <a:lnTo>
                  <a:pt x="110" y="108"/>
                </a:lnTo>
                <a:lnTo>
                  <a:pt x="140" y="96"/>
                </a:lnTo>
                <a:lnTo>
                  <a:pt x="160" y="60"/>
                </a:lnTo>
                <a:lnTo>
                  <a:pt x="182" y="0"/>
                </a:lnTo>
                <a:lnTo>
                  <a:pt x="200" y="55"/>
                </a:lnTo>
                <a:lnTo>
                  <a:pt x="215" y="80"/>
                </a:lnTo>
                <a:lnTo>
                  <a:pt x="232" y="30"/>
                </a:lnTo>
                <a:lnTo>
                  <a:pt x="248" y="75"/>
                </a:lnTo>
                <a:lnTo>
                  <a:pt x="265" y="100"/>
                </a:lnTo>
                <a:lnTo>
                  <a:pt x="290" y="112"/>
                </a:lnTo>
              </a:path>
            </a:pathLst>
          </a:custGeom>
          <a:noFill/>
          <a:ln w="24130" cap="rnd">
            <a:solidFill>
              <a:srgbClr val="12263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10550" y="1562100"/>
            <a:ext cx="3143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一、熔解曲线原理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0550" y="1885950"/>
            <a:ext cx="3181350" cy="175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双链 DNA 在升温过程中解链，SYBR Green 从双链上脱落，荧</a:t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光强度随之下降。</a:t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荧光强度对温度求负导数（−dF/dT）作图，峰值处即为产物的</a:t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熔解温度 Tm。</a:t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ts val="153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Tm 由产物长度与 GC 含量决定，序列不同则 Tm 不同。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" y="4057650"/>
            <a:ext cx="3238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二、判读标准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8200" y="4457700"/>
            <a:ext cx="76200" cy="762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28700" y="4381500"/>
            <a:ext cx="6400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单一尖锐峰：产物单一，扩增特异，结果可用。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8200" y="4819650"/>
            <a:ext cx="76200" cy="76200"/>
          </a:xfrm>
          <a:prstGeom prst="ellipse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28700" y="4743450"/>
            <a:ext cx="6400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出现双峰或多峰：存在非特异性扩增或引物二聚体，结果不可用。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8200" y="5181600"/>
            <a:ext cx="76200" cy="76200"/>
          </a:xfrm>
          <a:prstGeom prst="ellipse">
            <a:avLst/>
          </a:prstGeom>
          <a:solidFill>
            <a:srgbClr val="12263A"/>
          </a:solidFill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28700" y="5105400"/>
            <a:ext cx="6400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峰形宽钝、Tm 偏低（通常 &lt; 75 ℃）：多为引物二聚体。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8200" y="5543550"/>
            <a:ext cx="76200" cy="76200"/>
          </a:xfrm>
          <a:prstGeom prst="ellipse">
            <a:avLst/>
          </a:prstGeom>
          <a:solidFill>
            <a:srgbClr val="5B7186"/>
          </a:solidFill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28700" y="5467350"/>
            <a:ext cx="6400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无峰：扩增失败，检查模板与体系。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8150" y="4057650"/>
            <a:ext cx="33337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三、特异性验证手段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77200" y="4524375"/>
            <a:ext cx="5715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48650" y="4438650"/>
            <a:ext cx="31623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熔解曲线单峰分析（最常用、成本低）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77200" y="4905375"/>
            <a:ext cx="5715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48650" y="4819650"/>
            <a:ext cx="31623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琼脂糖凝胶电泳确认单一目的条带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7200" y="5286375"/>
            <a:ext cx="5715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48650" y="5200650"/>
            <a:ext cx="31623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测序验证产物序列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77200" y="5667375"/>
            <a:ext cx="5715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248650" y="5581650"/>
            <a:ext cx="31623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NTC 无扩增、NRT 无扩增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90900" y="15240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5575" y="1981200"/>
            <a:ext cx="76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1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Tm 84 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86600" y="1524000"/>
            <a:ext cx="6096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29350" y="1981200"/>
            <a:ext cx="76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Tm 82 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05600" y="2286000"/>
            <a:ext cx="76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Tm 88 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2" name="Picture 11" descr="crop-0-el_be9e51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38150"/>
            <a:ext cx="57150" cy="38100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400050"/>
            <a:ext cx="78105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常见问题与排查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876300"/>
            <a:ext cx="857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五类常见异常 · 从问题出发，定位原因，给出对策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8E2EA"/>
          </a:solidFill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829300"/>
            <a:ext cx="10972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排查顺序：先看曲线形状 → 再核实验操作 → 最后更换试剂与酶；每次只改一个变量。</a:t>
            </a:r>
          </a:p>
        </p:txBody>
      </p:sp>
      <p:pic>
        <p:nvPicPr>
          <p:cNvPr id="20" name="Picture 19" descr="crop-8-el_f4c38e4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971550"/>
            <a:ext cx="118872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603158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-457200"/>
            <a:ext cx="13106400" cy="962025"/>
          </a:xfrm>
          <a:prstGeom prst="rect">
            <a:avLst/>
          </a:prstGeom>
        </p:spPr>
      </p:pic>
      <p:pic>
        <p:nvPicPr>
          <p:cNvPr id="3" name="Picture 2" descr="crop-0-el_8b174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-457200"/>
            <a:ext cx="9906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78105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1500" y="6172200"/>
            <a:ext cx="11049000" cy="9525"/>
          </a:xfrm>
          <a:prstGeom prst="line">
            <a:avLst/>
          </a:prstGeom>
          <a:noFill/>
          <a:ln w="10160" cap="flat">
            <a:solidFill>
              <a:srgbClr val="D8E2EA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6" name="Picture 5" descr="crop-0-el_38b4bf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-381000"/>
            <a:ext cx="1562100" cy="1562100"/>
          </a:xfrm>
          <a:prstGeom prst="rect">
            <a:avLst/>
          </a:prstGeom>
        </p:spPr>
      </p:pic>
      <p:pic>
        <p:nvPicPr>
          <p:cNvPr id="7" name="Picture 6" descr="crop-0-el_a506aa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-76200"/>
            <a:ext cx="971550" cy="971550"/>
          </a:xfrm>
          <a:prstGeom prst="rect">
            <a:avLst/>
          </a:prstGeom>
        </p:spPr>
      </p:pic>
      <p:pic>
        <p:nvPicPr>
          <p:cNvPr id="8" name="Picture 7" descr="crop-0-el_e4087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57150"/>
            <a:ext cx="971550" cy="971550"/>
          </a:xfrm>
          <a:prstGeom prst="rect">
            <a:avLst/>
          </a:prstGeom>
        </p:spPr>
      </p:pic>
      <p:pic>
        <p:nvPicPr>
          <p:cNvPr id="9" name="Picture 8" descr="crop-0-el_b52d46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0" y="190500"/>
            <a:ext cx="971550" cy="971550"/>
          </a:xfrm>
          <a:prstGeom prst="rect">
            <a:avLst/>
          </a:prstGeom>
        </p:spPr>
      </p:pic>
      <p:pic>
        <p:nvPicPr>
          <p:cNvPr id="10" name="Picture 9" descr="crop-0-el_5b55577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800" y="6210300"/>
            <a:ext cx="1295400" cy="1104900"/>
          </a:xfrm>
          <a:prstGeom prst="rect">
            <a:avLst/>
          </a:prstGeom>
        </p:spPr>
      </p:pic>
      <p:pic>
        <p:nvPicPr>
          <p:cNvPr id="11" name="Picture 10" descr="crop-9-el_559bb2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71450" y="3638550"/>
            <a:ext cx="3962400" cy="3962400"/>
          </a:xfrm>
          <a:prstGeom prst="rect">
            <a:avLst/>
          </a:prstGeom>
        </p:spPr>
      </p:pic>
      <p:pic>
        <p:nvPicPr>
          <p:cNvPr id="12" name="Picture 11" descr="crop-9-el_9c92669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5550" y="2019300"/>
            <a:ext cx="2533650" cy="23431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1500" y="704850"/>
            <a:ext cx="609600" cy="57150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pic>
        <p:nvPicPr>
          <p:cNvPr id="14" name="Picture 13" descr="crop-0-el_be9e51b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0900" y="-209550"/>
            <a:ext cx="1219200" cy="1219200"/>
          </a:xfrm>
          <a:prstGeom prst="rect">
            <a:avLst/>
          </a:prstGeom>
        </p:spPr>
      </p:pic>
      <p:pic>
        <p:nvPicPr>
          <p:cNvPr id="15" name="Picture 14" descr="crop-9-el_3a2fed4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3543300"/>
            <a:ext cx="4152900" cy="2819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1250" y="6248400"/>
            <a:ext cx="16192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248400"/>
            <a:ext cx="40957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实验室标准操作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286000"/>
            <a:ext cx="762000" cy="28575"/>
          </a:xfrm>
          <a:prstGeom prst="rect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057900" y="2495550"/>
            <a:ext cx="76200" cy="76200"/>
          </a:xfrm>
          <a:prstGeom prst="ellipse">
            <a:avLst/>
          </a:prstGeom>
          <a:solidFill>
            <a:srgbClr val="0E7C86"/>
          </a:solidFill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286000" y="2743200"/>
            <a:ext cx="76200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5400"/>
              </a:lnSpc>
            </a:pPr>
            <a:r>
              <a:rPr sz="4500" b="1" i="0" spc="30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657600"/>
            <a:ext cx="7620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spc="75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qPCR 实验流程 · 标准操作规范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305300"/>
            <a:ext cx="762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把每一步做扎实，数据自然可信。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8500" y="5753100"/>
            <a:ext cx="5715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5B7186"/>
                </a:solidFill>
                <a:latin typeface="Microsoft YaHei"/>
                <a:ea typeface="Microsoft YaHei"/>
                <a:cs typeface="Microsoft YaHei"/>
              </a:rPr>
              <a:t>实验室分子生物学平台 · v2.1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