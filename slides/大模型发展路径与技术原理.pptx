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0.svg" ContentType="image/svg+xml"/>
  <Override PartName="/ppt/media/image4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16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0-el_8129bc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0" y="-2362200"/>
            <a:ext cx="7581900" cy="11582400"/>
          </a:xfrm>
          <a:prstGeom prst="rect">
            <a:avLst/>
          </a:prstGeom>
        </p:spPr>
      </p:pic>
      <p:pic>
        <p:nvPicPr>
          <p:cNvPr id="3" name="Picture 2" descr="crop-0-el_f89f83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2300" y="5448300"/>
            <a:ext cx="3962400" cy="3962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-800100" y="-800100"/>
            <a:ext cx="1143000" cy="1143000"/>
          </a:xfrm>
          <a:prstGeom prst="rect">
            <a:avLst/>
          </a:prstGeom>
          <a:noFill/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pic>
        <p:nvPicPr>
          <p:cNvPr id="5" name="Picture 4" descr="crop-0-el_f9ed66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8050" y="495300"/>
            <a:ext cx="4724400" cy="4724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9600" y="4191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pic>
        <p:nvPicPr>
          <p:cNvPr id="8" name="Picture 7" descr="crop-0-el_07b6b3f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4300" y="971550"/>
            <a:ext cx="3771900" cy="3771900"/>
          </a:xfrm>
          <a:prstGeom prst="rect">
            <a:avLst/>
          </a:prstGeom>
        </p:spPr>
      </p:pic>
      <p:pic>
        <p:nvPicPr>
          <p:cNvPr id="9" name="Picture 8" descr="crop-0-el_ff3086c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4800" y="4305300"/>
            <a:ext cx="3581400" cy="2438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09600" y="2857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09600" y="6534150"/>
            <a:ext cx="4000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大模型发展路径与技术原理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0" y="6534150"/>
            <a:ext cx="11049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pic>
        <p:nvPicPr>
          <p:cNvPr id="13" name="Picture 12" descr="crop-0-el_4844443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0550" y="1447800"/>
            <a:ext cx="2819400" cy="2819400"/>
          </a:xfrm>
          <a:prstGeom prst="rect">
            <a:avLst/>
          </a:prstGeom>
        </p:spPr>
      </p:pic>
      <p:pic>
        <p:nvPicPr>
          <p:cNvPr id="14" name="Picture 13" descr="crop-0-el_663deb0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1550" y="1876425"/>
            <a:ext cx="2114550" cy="177165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914400" y="4305300"/>
            <a:ext cx="6286500" cy="838200"/>
          </a:xfrm>
          <a:prstGeom prst="roundRect">
            <a:avLst/>
          </a:prstGeom>
          <a:solidFill>
            <a:srgbClr val="16202C"/>
          </a:solidFill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914400" y="1257300"/>
            <a:ext cx="533400" cy="38100"/>
          </a:xfrm>
          <a:prstGeom prst="rect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914400" y="3981450"/>
            <a:ext cx="4953000" cy="9525"/>
          </a:xfrm>
          <a:prstGeom prst="line">
            <a:avLst/>
          </a:prstGeom>
          <a:noFill/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914400" y="4305300"/>
            <a:ext cx="38100" cy="838200"/>
          </a:xfrm>
          <a:prstGeom prst="rect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1485900"/>
            <a:ext cx="5905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1050" b="1" i="0" spc="225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LARGE LANGUAGE MODELS · ARCHITECTURE &amp;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200" y="4305300"/>
            <a:ext cx="56769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020"/>
              </a:lnSpc>
            </a:pPr>
            <a:r>
              <a:rPr sz="135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理解大模型，就是理解「注意力 + 规模 + 对齐」这三件事。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134100"/>
            <a:ext cx="381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1050" b="0" i="0" spc="75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技术分享 ·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866900"/>
            <a:ext cx="78105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690"/>
              </a:lnSpc>
            </a:pPr>
            <a:r>
              <a:rPr sz="4950" b="1" i="0" spc="75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大模型发展路径与技术原理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028950"/>
            <a:ext cx="6477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从 Transformer 到 Agent —— 架构、训练与能力的完整拆解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1-el_b658f9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2300" y="5448300"/>
            <a:ext cx="3962400" cy="3962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800100" y="-800100"/>
            <a:ext cx="1143000" cy="1143000"/>
          </a:xfrm>
          <a:prstGeom prst="rect">
            <a:avLst/>
          </a:prstGeom>
          <a:noFill/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5800" y="1905000"/>
            <a:ext cx="38100" cy="4152900"/>
          </a:xfrm>
          <a:prstGeom prst="rect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334500" y="381000"/>
            <a:ext cx="2286000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3500"/>
              </a:lnSpc>
            </a:pPr>
            <a:r>
              <a:rPr sz="9000" b="1" i="0">
                <a:solidFill>
                  <a:srgbClr val="16202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4191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143000" y="2667000"/>
            <a:ext cx="102870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143000" y="3505200"/>
            <a:ext cx="102870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43000" y="4343400"/>
            <a:ext cx="102870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143000" y="5181600"/>
            <a:ext cx="102870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09600" y="2857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09600" y="6534150"/>
            <a:ext cx="4000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大模型发展路径与技术原理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7500" y="6534150"/>
            <a:ext cx="11049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876300"/>
            <a:ext cx="40005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5400"/>
              </a:lnSpc>
            </a:pPr>
            <a:r>
              <a:rPr sz="36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1100" y="1524000"/>
            <a:ext cx="4000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50" b="0" i="0" spc="45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1943100"/>
            <a:ext cx="7620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3600"/>
              </a:lnSpc>
            </a:pPr>
            <a:r>
              <a:rPr sz="2400" b="1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38350" y="1943100"/>
            <a:ext cx="590550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920"/>
              </a:lnSpc>
            </a:pPr>
            <a:r>
              <a:rPr sz="195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发展脉络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38350" y="2305050"/>
            <a:ext cx="7239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5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从统计语言模型到通用大模型的范式跃迁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2000250"/>
            <a:ext cx="11430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2020"/>
              </a:lnSpc>
            </a:pPr>
            <a:r>
              <a:rPr sz="135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2781300"/>
            <a:ext cx="7620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3600"/>
              </a:lnSpc>
            </a:pPr>
            <a:r>
              <a:rPr sz="2400" b="1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38350" y="2781300"/>
            <a:ext cx="590550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920"/>
              </a:lnSpc>
            </a:pPr>
            <a:r>
              <a:rPr sz="195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Transformer 原理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38350" y="3143250"/>
            <a:ext cx="7239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5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自注意力、多头机制与位置编码的架构拆解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2838450"/>
            <a:ext cx="11430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2020"/>
              </a:lnSpc>
            </a:pPr>
            <a:r>
              <a:rPr sz="135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619500"/>
            <a:ext cx="7620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3600"/>
              </a:lnSpc>
            </a:pPr>
            <a:r>
              <a:rPr sz="2400" b="1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38350" y="3619500"/>
            <a:ext cx="590550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920"/>
              </a:lnSpc>
            </a:pPr>
            <a:r>
              <a:rPr sz="195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训练全流程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8350" y="3981450"/>
            <a:ext cx="7239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5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预训练、缩放定律与 RLHF 对齐三阶段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3676650"/>
            <a:ext cx="11430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2020"/>
              </a:lnSpc>
            </a:pPr>
            <a:r>
              <a:rPr sz="135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457700"/>
            <a:ext cx="7620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3600"/>
              </a:lnSpc>
            </a:pPr>
            <a:r>
              <a:rPr sz="2400" b="1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38350" y="4457700"/>
            <a:ext cx="590550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920"/>
              </a:lnSpc>
            </a:pPr>
            <a:r>
              <a:rPr sz="195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Agent 架构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38350" y="4819650"/>
            <a:ext cx="7239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5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规划、记忆、工具调用与多智能体协作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4514850"/>
            <a:ext cx="11430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2020"/>
              </a:lnSpc>
            </a:pPr>
            <a:r>
              <a:rPr sz="135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5295900"/>
            <a:ext cx="7620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3600"/>
              </a:lnSpc>
            </a:pPr>
            <a:r>
              <a:rPr sz="2400" b="1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38350" y="5295900"/>
            <a:ext cx="590550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920"/>
              </a:lnSpc>
            </a:pPr>
            <a:r>
              <a:rPr sz="195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能力与局限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38350" y="5657850"/>
            <a:ext cx="7239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5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涌现能力、幻觉问题与安全对齐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5353050"/>
            <a:ext cx="11430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2020"/>
              </a:lnSpc>
            </a:pPr>
            <a:r>
              <a:rPr sz="135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1-el_b658f9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2300" y="5448300"/>
            <a:ext cx="3962400" cy="3962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800100" y="-800100"/>
            <a:ext cx="1143000" cy="1143000"/>
          </a:xfrm>
          <a:prstGeom prst="rect">
            <a:avLst/>
          </a:prstGeom>
          <a:noFill/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pic>
        <p:nvPicPr>
          <p:cNvPr id="4" name="Picture 3" descr="crop-2-el_3f8573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1257300"/>
            <a:ext cx="5486400" cy="5486400"/>
          </a:xfrm>
          <a:prstGeom prst="rect">
            <a:avLst/>
          </a:prstGeom>
        </p:spPr>
      </p:pic>
      <p:pic>
        <p:nvPicPr>
          <p:cNvPr id="5" name="Picture 4" descr="crop-2-el_6e825e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2050" y="1924050"/>
            <a:ext cx="4152900" cy="4152900"/>
          </a:xfrm>
          <a:prstGeom prst="rect">
            <a:avLst/>
          </a:prstGeom>
        </p:spPr>
      </p:pic>
      <p:pic>
        <p:nvPicPr>
          <p:cNvPr id="6" name="Picture 5" descr="crop-2-el_ccc579e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8800" y="2590800"/>
            <a:ext cx="2819400" cy="2819400"/>
          </a:xfrm>
          <a:prstGeom prst="rect">
            <a:avLst/>
          </a:prstGeom>
        </p:spPr>
      </p:pic>
      <p:pic>
        <p:nvPicPr>
          <p:cNvPr id="7" name="Picture 6" descr="crop-2-el_ec785f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25200" y="685800"/>
            <a:ext cx="942975" cy="52959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9600" y="4191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47750" y="914400"/>
            <a:ext cx="3619500" cy="175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750"/>
              </a:lnSpc>
            </a:pPr>
            <a:r>
              <a:rPr sz="12750" b="1" i="0">
                <a:solidFill>
                  <a:srgbClr val="16202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" y="2857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09600" y="6534150"/>
            <a:ext cx="4000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大模型发展路径与技术原理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0" y="6534150"/>
            <a:ext cx="11049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" y="2857500"/>
            <a:ext cx="38100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170"/>
              </a:lnSpc>
            </a:pPr>
            <a:r>
              <a:rPr sz="980" b="1" i="0" spc="45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EVOLUTION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3162300"/>
            <a:ext cx="66675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3960"/>
              </a:lnSpc>
            </a:pPr>
            <a:r>
              <a:rPr sz="33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发展脉络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85850" y="3924300"/>
            <a:ext cx="6858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66800" y="4229100"/>
            <a:ext cx="6477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39"/>
              </a:lnSpc>
            </a:pPr>
            <a:r>
              <a:rPr sz="12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从 n-gram 统计语言模型，到 RNN/LSTM 序列建模，再到 Transformer 与预训练大模型——</a:t>
            </a:r>
          </a:p>
          <a:p>
            <a:pPr algn="l">
              <a:lnSpc>
                <a:spcPts val="2039"/>
              </a:lnSpc>
            </a:pPr>
            <a:r>
              <a:rPr sz="12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语言建模的每一次跃迁，都源于对「上下文如何被表示」的重新回答。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1-el_b658f9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2300" y="5448300"/>
            <a:ext cx="3962400" cy="3962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800100" y="-800100"/>
            <a:ext cx="1143000" cy="1143000"/>
          </a:xfrm>
          <a:prstGeom prst="rect">
            <a:avLst/>
          </a:prstGeom>
          <a:noFill/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09600" y="4191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09600" y="2857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4000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大模型发展路径与技术原理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0" y="6534150"/>
            <a:ext cx="11049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" y="3705225"/>
            <a:ext cx="10477500" cy="19050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057275" y="3390900"/>
            <a:ext cx="19050" cy="25717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2733675" y="3781425"/>
            <a:ext cx="19050" cy="25717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410075" y="3390900"/>
            <a:ext cx="19050" cy="25717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086475" y="3781425"/>
            <a:ext cx="19050" cy="25717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762875" y="3390900"/>
            <a:ext cx="19050" cy="25717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9439275" y="3781425"/>
            <a:ext cx="19050" cy="25717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1115675" y="3390900"/>
            <a:ext cx="19050" cy="25717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pic>
        <p:nvPicPr>
          <p:cNvPr id="17" name="Picture 16" descr="crop-3-el_201b75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7025" y="3076575"/>
            <a:ext cx="1276350" cy="127635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000125" y="3648075"/>
            <a:ext cx="133350" cy="133350"/>
          </a:xfrm>
          <a:prstGeom prst="ellipse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2676525" y="3648075"/>
            <a:ext cx="133350" cy="133350"/>
          </a:xfrm>
          <a:prstGeom prst="ellipse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352925" y="3648075"/>
            <a:ext cx="133350" cy="133350"/>
          </a:xfrm>
          <a:prstGeom prst="ellipse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029325" y="3648075"/>
            <a:ext cx="133350" cy="133350"/>
          </a:xfrm>
          <a:prstGeom prst="ellipse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705725" y="3648075"/>
            <a:ext cx="133350" cy="133350"/>
          </a:xfrm>
          <a:prstGeom prst="ellipse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9382125" y="3648075"/>
            <a:ext cx="133350" cy="133350"/>
          </a:xfrm>
          <a:prstGeom prst="ellipse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1058525" y="3648075"/>
            <a:ext cx="133350" cy="133350"/>
          </a:xfrm>
          <a:prstGeom prst="ellipse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9600" y="628650"/>
            <a:ext cx="5715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发展时间线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" y="1066800"/>
            <a:ext cx="533400" cy="38100"/>
          </a:xfrm>
          <a:prstGeom prst="rect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66700" y="1447800"/>
            <a:ext cx="16002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60"/>
              </a:lnSpc>
            </a:pPr>
            <a:r>
              <a:rPr sz="1050" b="1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2013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6700" y="1676400"/>
            <a:ext cx="16002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560"/>
              </a:lnSpc>
            </a:pPr>
            <a:r>
              <a:rPr sz="12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Word2Vec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6700" y="2133600"/>
            <a:ext cx="1600200" cy="1257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词向量让词语第一次有了可计算</a:t>
            </a:r>
          </a:p>
          <a:p>
            <a:pPr algn="ctr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的语义坐标，但上下文仍是静态</a:t>
            </a:r>
          </a:p>
          <a:p>
            <a:pPr algn="ctr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的。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43100" y="4038600"/>
            <a:ext cx="16002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60"/>
              </a:lnSpc>
            </a:pPr>
            <a:r>
              <a:rPr sz="1050" b="1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2017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43100" y="4267200"/>
            <a:ext cx="16002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560"/>
              </a:lnSpc>
            </a:pPr>
            <a:r>
              <a:rPr sz="12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Transformer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3100" y="4724400"/>
            <a:ext cx="1600200" cy="1257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《Attention Is All You </a:t>
            </a:r>
          </a:p>
          <a:p>
            <a:pPr algn="ctr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Need》提出自注意力，抛弃循</a:t>
            </a:r>
          </a:p>
          <a:p>
            <a:pPr algn="ctr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环结构，训练可完全并行。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9500" y="1447800"/>
            <a:ext cx="16002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60"/>
              </a:lnSpc>
            </a:pPr>
            <a:r>
              <a:rPr sz="1050" b="1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2018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9500" y="1676400"/>
            <a:ext cx="16002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560"/>
              </a:lnSpc>
            </a:pPr>
            <a:r>
              <a:rPr sz="12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BERT / GPT-1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9500" y="2133600"/>
            <a:ext cx="1600200" cy="1257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预训练 + 微调范式确立：先在</a:t>
            </a:r>
          </a:p>
          <a:p>
            <a:pPr algn="ctr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海量语料上自监督学习，再迁移</a:t>
            </a:r>
          </a:p>
          <a:p>
            <a:pPr algn="ctr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到下游任务。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95900" y="4038600"/>
            <a:ext cx="16002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60"/>
              </a:lnSpc>
            </a:pPr>
            <a:r>
              <a:rPr sz="1050" b="1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2020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95900" y="4267200"/>
            <a:ext cx="16002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560"/>
              </a:lnSpc>
            </a:pPr>
            <a:r>
              <a:rPr sz="12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GPT-3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95900" y="4724400"/>
            <a:ext cx="1600200" cy="1257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1750 亿参数；少样本学习能力</a:t>
            </a:r>
          </a:p>
          <a:p>
            <a:pPr algn="ctr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涌现，规模本身成为能力来源。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72300" y="1447800"/>
            <a:ext cx="16002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60"/>
              </a:lnSpc>
            </a:pPr>
            <a:r>
              <a:rPr sz="1050" b="1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2022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72300" y="1676400"/>
            <a:ext cx="16002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560"/>
              </a:lnSpc>
            </a:pPr>
            <a:r>
              <a:rPr sz="12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InstructGPT / </a:t>
            </a:r>
          </a:p>
          <a:p>
            <a:pPr algn="ctr">
              <a:lnSpc>
                <a:spcPts val="1560"/>
              </a:lnSpc>
            </a:pPr>
            <a:r>
              <a:rPr sz="12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ChatGPT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72300" y="2133600"/>
            <a:ext cx="1600200" cy="1257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RLHF 对齐让模型从「会续写」</a:t>
            </a:r>
          </a:p>
          <a:p>
            <a:pPr algn="ctr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变成「会对话、听得懂指令」。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8700" y="4038600"/>
            <a:ext cx="16002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60"/>
              </a:lnSpc>
            </a:pPr>
            <a:r>
              <a:rPr sz="1050" b="1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2023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8700" y="4267200"/>
            <a:ext cx="16002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560"/>
              </a:lnSpc>
            </a:pPr>
            <a:r>
              <a:rPr sz="12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GPT-4 / 开源浪潮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48700" y="4724400"/>
            <a:ext cx="1600200" cy="1257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多模态与推理能力提升；</a:t>
            </a:r>
          </a:p>
          <a:p>
            <a:pPr algn="ctr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LLaMA 系列带动开源生态爆</a:t>
            </a:r>
          </a:p>
          <a:p>
            <a:pPr algn="ctr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发。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25100" y="1447800"/>
            <a:ext cx="16002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60"/>
              </a:lnSpc>
            </a:pPr>
            <a:r>
              <a:rPr sz="1050" b="1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2024–2026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25100" y="1676400"/>
            <a:ext cx="16002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560"/>
              </a:lnSpc>
            </a:pPr>
            <a:r>
              <a:rPr sz="12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推理模型与 Agent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25100" y="2133600"/>
            <a:ext cx="1600200" cy="1257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从「一次性回答」走向「长链思</a:t>
            </a:r>
          </a:p>
          <a:p>
            <a:pPr algn="ctr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考 + 工具调用 + 自主执行」。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1-el_b658f9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2300" y="5448300"/>
            <a:ext cx="3962400" cy="3962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800100" y="-800100"/>
            <a:ext cx="1143000" cy="1143000"/>
          </a:xfrm>
          <a:prstGeom prst="rect">
            <a:avLst/>
          </a:prstGeom>
          <a:noFill/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09600" y="4191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09600" y="2857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4000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大模型发展路径与技术原理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0" y="6534150"/>
            <a:ext cx="11049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2878931" y="2650331"/>
            <a:ext cx="642937" cy="109537"/>
          </a:xfrm>
          <a:custGeom>
            <a:avLst/>
            <a:gdLst/>
            <a:ahLst/>
            <a:cxnLst/>
            <a:rect l="0" t="0" r="67" b="11"/>
            <a:pathLst>
              <a:path w="67" h="11" fill="none">
                <a:moveTo>
                  <a:pt x="2" y="6"/>
                </a:moveTo>
                <a:lnTo>
                  <a:pt x="66" y="6"/>
                </a:lnTo>
              </a:path>
            </a:pathLst>
          </a:custGeom>
          <a:noFill/>
          <a:ln w="13970" cap="flat">
            <a:solidFill>
              <a:srgbClr val="38BDF8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774531" y="2650331"/>
            <a:ext cx="642937" cy="109537"/>
          </a:xfrm>
          <a:custGeom>
            <a:avLst/>
            <a:gdLst/>
            <a:ahLst/>
            <a:cxnLst/>
            <a:rect l="0" t="0" r="67" b="11"/>
            <a:pathLst>
              <a:path w="67" h="11" fill="none">
                <a:moveTo>
                  <a:pt x="2" y="6"/>
                </a:moveTo>
                <a:lnTo>
                  <a:pt x="66" y="6"/>
                </a:lnTo>
              </a:path>
            </a:pathLst>
          </a:custGeom>
          <a:noFill/>
          <a:ln w="13970" cap="flat">
            <a:solidFill>
              <a:srgbClr val="38BDF8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8670131" y="2650331"/>
            <a:ext cx="642937" cy="109537"/>
          </a:xfrm>
          <a:custGeom>
            <a:avLst/>
            <a:gdLst/>
            <a:ahLst/>
            <a:cxnLst/>
            <a:rect l="0" t="0" r="67" b="11"/>
            <a:pathLst>
              <a:path w="67" h="11" fill="none">
                <a:moveTo>
                  <a:pt x="2" y="6"/>
                </a:moveTo>
                <a:lnTo>
                  <a:pt x="66" y="6"/>
                </a:lnTo>
              </a:path>
            </a:pathLst>
          </a:custGeom>
          <a:noFill/>
          <a:ln w="13970" cap="flat">
            <a:solidFill>
              <a:srgbClr val="38BDF8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09600" y="838200"/>
            <a:ext cx="59055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080"/>
              </a:lnSpc>
            </a:pPr>
            <a:r>
              <a:rPr sz="900" b="1" i="0" spc="188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FOUR PARADIGM SHIFTS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028700"/>
            <a:ext cx="76200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语言建模的四次范式跃迁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1581150"/>
            <a:ext cx="609600" cy="38100"/>
          </a:xfrm>
          <a:prstGeom prst="rect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09600" y="1752600"/>
            <a:ext cx="2286000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spc="75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352800"/>
            <a:ext cx="2286000" cy="152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990"/>
              </a:lnSpc>
            </a:pPr>
            <a:r>
              <a:rPr sz="819" b="0" i="0" spc="112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做法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3543300"/>
            <a:ext cx="22860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用前 n-1 个词的出现频率估计下一个词的</a:t>
            </a:r>
          </a:p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概率。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419600"/>
            <a:ext cx="2286000" cy="152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990"/>
              </a:lnSpc>
            </a:pPr>
            <a:r>
              <a:rPr sz="819" b="0" i="0" spc="112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局限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610100"/>
            <a:ext cx="22860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n 一大就数据稀疏，长距离依赖完全丢</a:t>
            </a:r>
          </a:p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失。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5200" y="1752600"/>
            <a:ext cx="2286000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spc="75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5200" y="3352800"/>
            <a:ext cx="2286000" cy="152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990"/>
              </a:lnSpc>
            </a:pPr>
            <a:r>
              <a:rPr sz="819" b="0" i="0" spc="112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做法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5200" y="3543300"/>
            <a:ext cx="22860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用循环网络把历史压进一个隐状态向量，</a:t>
            </a:r>
          </a:p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端到端学习。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5200" y="4419600"/>
            <a:ext cx="2286000" cy="152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990"/>
              </a:lnSpc>
            </a:pPr>
            <a:r>
              <a:rPr sz="819" b="0" i="0" spc="112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局限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5200" y="4610100"/>
            <a:ext cx="22860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必须按时间步串行计算，长序列梯度衰</a:t>
            </a:r>
          </a:p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减，训练慢。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752600"/>
            <a:ext cx="2286000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spc="75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352800"/>
            <a:ext cx="2286000" cy="152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990"/>
              </a:lnSpc>
            </a:pPr>
            <a:r>
              <a:rPr sz="819" b="0" i="0" spc="112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做法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543300"/>
            <a:ext cx="22860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在海量无标注语料上做自监督预训练，再</a:t>
            </a:r>
          </a:p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迁移到下游任务。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419600"/>
            <a:ext cx="2286000" cy="152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990"/>
              </a:lnSpc>
            </a:pPr>
            <a:r>
              <a:rPr sz="819" b="0" i="0" spc="112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突破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610100"/>
            <a:ext cx="22860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一次预训练、处处可迁移，模型开始具备</a:t>
            </a:r>
          </a:p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通用语言能力。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6400" y="1752600"/>
            <a:ext cx="2286000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spc="75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6400" y="3352800"/>
            <a:ext cx="2286000" cy="152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990"/>
              </a:lnSpc>
            </a:pPr>
            <a:r>
              <a:rPr sz="819" b="0" i="0" spc="112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做法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96400" y="3543300"/>
            <a:ext cx="22860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把参数量与数据量推到极致，再用 RLHF </a:t>
            </a:r>
          </a:p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对齐人类偏好。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6400" y="4419600"/>
            <a:ext cx="2286000" cy="152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990"/>
              </a:lnSpc>
            </a:pPr>
            <a:r>
              <a:rPr sz="819" b="0" i="0" spc="112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突破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6400" y="4610100"/>
            <a:ext cx="22860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少样本学习与指令跟随涌现，模型成为通</a:t>
            </a:r>
          </a:p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用任务求解器。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9600" y="2228850"/>
            <a:ext cx="2286000" cy="952500"/>
          </a:xfrm>
          <a:prstGeom prst="roundRect">
            <a:avLst>
              <a:gd name="adj" fmla="val 10000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3505200" y="2228850"/>
            <a:ext cx="2286000" cy="952500"/>
          </a:xfrm>
          <a:prstGeom prst="roundRect">
            <a:avLst>
              <a:gd name="adj" fmla="val 10000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00800" y="2228850"/>
            <a:ext cx="2286000" cy="952500"/>
          </a:xfrm>
          <a:prstGeom prst="roundRect">
            <a:avLst>
              <a:gd name="adj" fmla="val 10000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9296400" y="2228850"/>
            <a:ext cx="2286000" cy="952500"/>
          </a:xfrm>
          <a:prstGeom prst="roundRect">
            <a:avLst>
              <a:gd name="adj" fmla="val 10000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09600" y="2228850"/>
            <a:ext cx="2286000" cy="952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780"/>
              </a:lnSpc>
            </a:pPr>
            <a:r>
              <a:rPr sz="128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统计语言模型</a:t>
            </a:r>
          </a:p>
          <a:p>
            <a:pPr algn="ctr">
              <a:lnSpc>
                <a:spcPts val="1780"/>
              </a:lnSpc>
            </a:pPr>
            <a:r>
              <a:rPr sz="128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n-gram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05200" y="2228850"/>
            <a:ext cx="2286000" cy="952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780"/>
              </a:lnSpc>
            </a:pPr>
            <a:r>
              <a:rPr sz="128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神经语言模型</a:t>
            </a:r>
          </a:p>
          <a:p>
            <a:pPr algn="ctr">
              <a:lnSpc>
                <a:spcPts val="1780"/>
              </a:lnSpc>
            </a:pPr>
            <a:r>
              <a:rPr sz="128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RNN / LSTM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2228850"/>
            <a:ext cx="2286000" cy="952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780"/>
              </a:lnSpc>
            </a:pPr>
            <a:r>
              <a:rPr sz="128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预训练 + 微调</a:t>
            </a:r>
          </a:p>
          <a:p>
            <a:pPr algn="ctr">
              <a:lnSpc>
                <a:spcPts val="1780"/>
              </a:lnSpc>
            </a:pPr>
            <a:r>
              <a:rPr sz="128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BERT / GPT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6400" y="2228850"/>
            <a:ext cx="2286000" cy="952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780"/>
              </a:lnSpc>
            </a:pPr>
            <a:r>
              <a:rPr sz="128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大规模预训练</a:t>
            </a:r>
          </a:p>
          <a:p>
            <a:pPr algn="ctr">
              <a:lnSpc>
                <a:spcPts val="1780"/>
              </a:lnSpc>
            </a:pPr>
            <a:r>
              <a:rPr sz="128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+ 对齐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1-el_b658f9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2300" y="5448300"/>
            <a:ext cx="3962400" cy="3962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800100" y="-800100"/>
            <a:ext cx="1143000" cy="1143000"/>
          </a:xfrm>
          <a:prstGeom prst="rect">
            <a:avLst/>
          </a:prstGeom>
          <a:noFill/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09600" y="4191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pic>
        <p:nvPicPr>
          <p:cNvPr id="6" name="Picture 5" descr="crop-5-el_934d88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876300"/>
            <a:ext cx="4724400" cy="4724400"/>
          </a:xfrm>
          <a:prstGeom prst="rect">
            <a:avLst/>
          </a:prstGeom>
        </p:spPr>
      </p:pic>
      <p:pic>
        <p:nvPicPr>
          <p:cNvPr id="7" name="Picture 6" descr="crop-5-el_9697126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6300" y="1447800"/>
            <a:ext cx="3581400" cy="3581400"/>
          </a:xfrm>
          <a:prstGeom prst="rect">
            <a:avLst/>
          </a:prstGeom>
        </p:spPr>
      </p:pic>
      <p:pic>
        <p:nvPicPr>
          <p:cNvPr id="8" name="Picture 7" descr="crop-5-el_40391ca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7800" y="2019300"/>
            <a:ext cx="2438400" cy="2438400"/>
          </a:xfrm>
          <a:prstGeom prst="rect">
            <a:avLst/>
          </a:prstGeom>
        </p:spPr>
      </p:pic>
      <p:pic>
        <p:nvPicPr>
          <p:cNvPr id="9" name="Picture 8" descr="crop-5-el_13e7e8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91900" y="876300"/>
            <a:ext cx="952500" cy="5105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09600" y="2857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09600" y="6534150"/>
            <a:ext cx="4000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大模型发展路径与技术原理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0" y="6534150"/>
            <a:ext cx="11049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pic>
        <p:nvPicPr>
          <p:cNvPr id="13" name="Picture 12" descr="crop-5-el_f31ead3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4550" y="2686050"/>
            <a:ext cx="1104900" cy="11049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3400" y="1143000"/>
            <a:ext cx="4000500" cy="1714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0500"/>
              </a:lnSpc>
            </a:pPr>
            <a:r>
              <a:rPr sz="10500" b="1" i="0" spc="-150">
                <a:solidFill>
                  <a:srgbClr val="24304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2952750"/>
            <a:ext cx="5905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spc="225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ATTENTION IS ALL YOU NEED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238500"/>
            <a:ext cx="66675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3960"/>
              </a:lnSpc>
            </a:pPr>
            <a:r>
              <a:rPr sz="33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Transformer 原理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3981450"/>
            <a:ext cx="762000" cy="38100"/>
          </a:xfrm>
          <a:prstGeom prst="rect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09600" y="4210050"/>
            <a:ext cx="62865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2017 年《Attention Is All You Need》用纯注意力结构取代循环与卷积，让序列建模第一次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可以完全并行——这是今天所有大模型的共同底座。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1-el_b658f9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2300" y="5448300"/>
            <a:ext cx="3962400" cy="3962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800100" y="-800100"/>
            <a:ext cx="1143000" cy="1143000"/>
          </a:xfrm>
          <a:prstGeom prst="rect">
            <a:avLst/>
          </a:prstGeom>
          <a:noFill/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09600" y="4191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09600" y="2857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4000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大模型发展路径与技术原理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0" y="6534150"/>
            <a:ext cx="11049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2500" y="2647950"/>
            <a:ext cx="3238500" cy="1905000"/>
          </a:xfrm>
          <a:prstGeom prst="roundRect">
            <a:avLst>
              <a:gd name="adj" fmla="val 5000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4572000" y="2647950"/>
            <a:ext cx="3238500" cy="1905000"/>
          </a:xfrm>
          <a:prstGeom prst="roundRect">
            <a:avLst>
              <a:gd name="adj" fmla="val 5000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47750" y="1200150"/>
            <a:ext cx="285750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输入序列（Token）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7750" y="1524000"/>
            <a:ext cx="2857500" cy="400050"/>
          </a:xfrm>
          <a:prstGeom prst="roundRect">
            <a:avLst>
              <a:gd name="adj" fmla="val 19047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1047750" y="2019300"/>
            <a:ext cx="2857500" cy="400050"/>
          </a:xfrm>
          <a:prstGeom prst="roundRect">
            <a:avLst>
              <a:gd name="adj" fmla="val 19047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238250" y="2990850"/>
            <a:ext cx="2667000" cy="381000"/>
          </a:xfrm>
          <a:prstGeom prst="roundRect">
            <a:avLst>
              <a:gd name="adj" fmla="val 20000"/>
            </a:avLst>
          </a:prstGeom>
          <a:solidFill>
            <a:srgbClr val="16202C"/>
          </a:solidFill>
          <a:ln w="13970" cap="flat">
            <a:solidFill>
              <a:srgbClr val="38BDF8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524000" y="3409950"/>
            <a:ext cx="2095500" cy="228600"/>
          </a:xfrm>
          <a:prstGeom prst="roundRect">
            <a:avLst>
              <a:gd name="adj" fmla="val 25000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1238250" y="3981450"/>
            <a:ext cx="2667000" cy="400050"/>
          </a:xfrm>
          <a:prstGeom prst="roundRect">
            <a:avLst>
              <a:gd name="adj" fmla="val 19047"/>
            </a:avLst>
          </a:prstGeom>
          <a:solidFill>
            <a:srgbClr val="16202C"/>
          </a:solidFill>
          <a:ln w="13970" cap="flat">
            <a:solidFill>
              <a:srgbClr val="38BDF8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4857750" y="4000500"/>
            <a:ext cx="2667000" cy="361950"/>
          </a:xfrm>
          <a:prstGeom prst="roundRect">
            <a:avLst>
              <a:gd name="adj" fmla="val 21052"/>
            </a:avLst>
          </a:prstGeom>
          <a:solidFill>
            <a:srgbClr val="16202C"/>
          </a:solidFill>
          <a:ln w="13970" cap="flat">
            <a:solidFill>
              <a:srgbClr val="38BDF8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4857750" y="3581400"/>
            <a:ext cx="2667000" cy="361950"/>
          </a:xfrm>
          <a:prstGeom prst="roundRect">
            <a:avLst>
              <a:gd name="adj" fmla="val 21052"/>
            </a:avLst>
          </a:prstGeom>
          <a:solidFill>
            <a:srgbClr val="16202C"/>
          </a:solidFill>
          <a:ln w="13970" cap="flat">
            <a:solidFill>
              <a:srgbClr val="38BDF8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4857750" y="3143250"/>
            <a:ext cx="2667000" cy="361950"/>
          </a:xfrm>
          <a:prstGeom prst="roundRect">
            <a:avLst>
              <a:gd name="adj" fmla="val 21052"/>
            </a:avLst>
          </a:prstGeom>
          <a:solidFill>
            <a:srgbClr val="16202C"/>
          </a:solidFill>
          <a:ln w="13970" cap="flat">
            <a:solidFill>
              <a:srgbClr val="38BDF8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1047750" y="4914900"/>
            <a:ext cx="2857500" cy="381000"/>
          </a:xfrm>
          <a:prstGeom prst="roundRect">
            <a:avLst>
              <a:gd name="adj" fmla="val 20000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47750" y="1524000"/>
            <a:ext cx="285750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词嵌入 Embedding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7750" y="2019300"/>
            <a:ext cx="285750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位置编码 Positional Encoding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762250"/>
            <a:ext cx="2857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编码器 Encoder · ×6 层堆叠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8250" y="2990850"/>
            <a:ext cx="26670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前馈网络 Feed Forward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" y="3409950"/>
            <a:ext cx="2095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40"/>
              </a:lnSpc>
            </a:pPr>
            <a:r>
              <a:rPr sz="819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残差 + LayerNorm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8250" y="3981450"/>
            <a:ext cx="266700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120"/>
              </a:lnSpc>
            </a:pPr>
            <a:r>
              <a:rPr sz="90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多头自注意力</a:t>
            </a:r>
          </a:p>
          <a:p>
            <a:pPr algn="ctr">
              <a:lnSpc>
                <a:spcPts val="1120"/>
              </a:lnSpc>
            </a:pPr>
            <a:r>
              <a:rPr sz="90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Multi-Head Self-Attention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7275" y="2667000"/>
            <a:ext cx="2857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解码器 Decoder · ×6 层堆叠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7750" y="4000500"/>
            <a:ext cx="2667000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40"/>
              </a:lnSpc>
            </a:pPr>
            <a:r>
              <a:rPr sz="819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掩码自注意力 Masked MHA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57750" y="3581400"/>
            <a:ext cx="2667000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40"/>
              </a:lnSpc>
            </a:pPr>
            <a:r>
              <a:rPr sz="819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交叉注意力 Cross-Attention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7750" y="3143250"/>
            <a:ext cx="2667000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40"/>
              </a:lnSpc>
            </a:pPr>
            <a:r>
              <a:rPr sz="819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前馈网络 Feed Forward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7750" y="2857500"/>
            <a:ext cx="2667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240"/>
              </a:lnSpc>
            </a:pPr>
            <a:r>
              <a:rPr sz="819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每个子层：残差 + LayerNorm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7750" y="4914900"/>
            <a:ext cx="28575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线性投影 Linear → Softmax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7750" y="5353050"/>
            <a:ext cx="3429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下一个 token 的概率分布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91500" y="2857500"/>
            <a:ext cx="3429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689"/>
              </a:lnSpc>
            </a:pPr>
            <a:r>
              <a:rPr sz="112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编码器负责理解输入，</a:t>
            </a:r>
          </a:p>
          <a:p>
            <a:pPr algn="l">
              <a:lnSpc>
                <a:spcPts val="1689"/>
              </a:lnSpc>
            </a:pPr>
            <a:r>
              <a:rPr sz="112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解码器负责在理解的基础上逐词生成。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514350"/>
            <a:ext cx="4953000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920"/>
              </a:lnSpc>
            </a:pPr>
            <a:r>
              <a:rPr sz="195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Transformer 整体架构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600" y="933450"/>
            <a:ext cx="457200" cy="38100"/>
          </a:xfrm>
          <a:prstGeom prst="rect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2457450" y="2400300"/>
            <a:ext cx="133350" cy="266700"/>
          </a:xfrm>
          <a:custGeom>
            <a:avLst/>
            <a:gdLst/>
            <a:ahLst/>
            <a:cxnLst/>
            <a:rect l="0" t="0" r="14" b="28"/>
            <a:pathLst>
              <a:path w="14" h="28" fill="none">
                <a:moveTo>
                  <a:pt x="12" y="2"/>
                </a:moveTo>
                <a:lnTo>
                  <a:pt x="2" y="26"/>
                </a:lnTo>
              </a:path>
            </a:pathLst>
          </a:custGeom>
          <a:noFill/>
          <a:ln w="19050" cap="flat">
            <a:solidFill>
              <a:srgbClr val="2F6FED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4171950" y="3560445"/>
            <a:ext cx="716280" cy="220980"/>
          </a:xfrm>
          <a:custGeom>
            <a:avLst/>
            <a:gdLst/>
            <a:ahLst/>
            <a:cxnLst/>
            <a:rect l="0" t="0" r="75" b="23"/>
            <a:pathLst>
              <a:path w="75" h="23" fill="none">
                <a:moveTo>
                  <a:pt x="2" y="21"/>
                </a:moveTo>
                <a:lnTo>
                  <a:pt x="30" y="21"/>
                </a:lnTo>
                <a:cubicBezTo>
                  <a:pt x="35" y="21"/>
                  <a:pt x="38" y="19"/>
                  <a:pt x="38" y="14"/>
                </a:cubicBezTo>
                <a:lnTo>
                  <a:pt x="38" y="14"/>
                </a:lnTo>
                <a:cubicBezTo>
                  <a:pt x="38" y="9"/>
                  <a:pt x="40" y="6"/>
                  <a:pt x="45" y="6"/>
                </a:cubicBezTo>
                <a:lnTo>
                  <a:pt x="73" y="6"/>
                </a:lnTo>
              </a:path>
            </a:pathLst>
          </a:custGeom>
          <a:noFill/>
          <a:ln w="19050" cap="flat">
            <a:solidFill>
              <a:srgbClr val="2F6FED"/>
            </a:solidFill>
            <a:prstDash val="dash"/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3875913" y="4343400"/>
            <a:ext cx="715137" cy="628650"/>
          </a:xfrm>
          <a:custGeom>
            <a:avLst/>
            <a:gdLst/>
            <a:ahLst/>
            <a:cxnLst/>
            <a:rect l="0" t="0" r="75" b="66"/>
            <a:pathLst>
              <a:path w="75" h="66" fill="none">
                <a:moveTo>
                  <a:pt x="73" y="2"/>
                </a:moveTo>
                <a:lnTo>
                  <a:pt x="2" y="64"/>
                </a:lnTo>
              </a:path>
            </a:pathLst>
          </a:custGeom>
          <a:noFill/>
          <a:ln w="19050" cap="flat">
            <a:solidFill>
              <a:srgbClr val="2F6FED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1-el_b658f9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2300" y="5448300"/>
            <a:ext cx="3962400" cy="3962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800100" y="-800100"/>
            <a:ext cx="1143000" cy="1143000"/>
          </a:xfrm>
          <a:prstGeom prst="rect">
            <a:avLst/>
          </a:prstGeom>
          <a:noFill/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09600" y="4191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09600" y="2857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4000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大模型发展路径与技术原理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0" y="6534150"/>
            <a:ext cx="11049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333500"/>
            <a:ext cx="533400" cy="28575"/>
          </a:xfrm>
          <a:prstGeom prst="rect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09600" y="1676400"/>
            <a:ext cx="10972800" cy="800100"/>
          </a:xfrm>
          <a:prstGeom prst="roundRect">
            <a:avLst>
              <a:gd name="adj" fmla="val 11904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09600" y="742950"/>
            <a:ext cx="59055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自注意力机制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7300" y="1238250"/>
            <a:ext cx="4000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080"/>
              </a:lnSpc>
            </a:pPr>
            <a:r>
              <a:rPr sz="900" b="0" i="0" spc="15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SELF-ATTENTION</a:t>
            </a:r>
          </a:p>
        </p:txBody>
      </p:sp>
      <p:pic>
        <p:nvPicPr>
          <p:cNvPr id="13" name="Picture 12" descr="crop-7-el_61f44c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219200"/>
            <a:ext cx="11887200" cy="17145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09600" y="2838450"/>
            <a:ext cx="2343150" cy="1066800"/>
          </a:xfrm>
          <a:prstGeom prst="roundRect">
            <a:avLst>
              <a:gd name="adj" fmla="val 8928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3486150" y="2838450"/>
            <a:ext cx="2343150" cy="1066800"/>
          </a:xfrm>
          <a:prstGeom prst="roundRect">
            <a:avLst>
              <a:gd name="adj" fmla="val 8928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362700" y="2838450"/>
            <a:ext cx="2343150" cy="1066800"/>
          </a:xfrm>
          <a:prstGeom prst="roundRect">
            <a:avLst>
              <a:gd name="adj" fmla="val 8928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9239250" y="2838450"/>
            <a:ext cx="2343150" cy="1066800"/>
          </a:xfrm>
          <a:prstGeom prst="roundRect">
            <a:avLst>
              <a:gd name="adj" fmla="val 8928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609600" y="4248150"/>
            <a:ext cx="7315200" cy="1295400"/>
          </a:xfrm>
          <a:prstGeom prst="roundRect">
            <a:avLst>
              <a:gd name="adj" fmla="val 7352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153400" y="4248150"/>
            <a:ext cx="3429000" cy="1295400"/>
          </a:xfrm>
          <a:prstGeom prst="roundRect">
            <a:avLst>
              <a:gd name="adj" fmla="val 7352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81050" y="2990850"/>
            <a:ext cx="5715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080"/>
              </a:lnSpc>
            </a:pPr>
            <a:r>
              <a:rPr sz="900" b="0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050" y="3219450"/>
            <a:ext cx="200025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40"/>
              </a:lnSpc>
            </a:pPr>
            <a:r>
              <a:rPr sz="12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生成 Q/K/V</a:t>
            </a:r>
          </a:p>
        </p:txBody>
      </p:sp>
      <p:pic>
        <p:nvPicPr>
          <p:cNvPr id="22" name="Picture 21" descr="crop-7-el_5e88b9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" y="3048000"/>
            <a:ext cx="2914650" cy="12573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657600" y="2990850"/>
            <a:ext cx="5715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080"/>
              </a:lnSpc>
            </a:pPr>
            <a:r>
              <a:rPr sz="900" b="0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219450"/>
            <a:ext cx="200025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40"/>
              </a:lnSpc>
            </a:pPr>
            <a:r>
              <a:rPr sz="12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计算相似度</a:t>
            </a:r>
          </a:p>
        </p:txBody>
      </p:sp>
      <p:pic>
        <p:nvPicPr>
          <p:cNvPr id="25" name="Picture 24" descr="crop-7-el_d22b41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3048000"/>
            <a:ext cx="2914650" cy="12573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534150" y="2990850"/>
            <a:ext cx="5715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080"/>
              </a:lnSpc>
            </a:pPr>
            <a:r>
              <a:rPr sz="900" b="0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4150" y="3219450"/>
            <a:ext cx="200025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40"/>
              </a:lnSpc>
            </a:pPr>
            <a:r>
              <a:rPr sz="12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缩放与归一化</a:t>
            </a:r>
          </a:p>
        </p:txBody>
      </p:sp>
      <p:pic>
        <p:nvPicPr>
          <p:cNvPr id="28" name="Picture 27" descr="crop-7-el_00d27a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6950" y="3048000"/>
            <a:ext cx="2914650" cy="12573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410700" y="2990850"/>
            <a:ext cx="5715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080"/>
              </a:lnSpc>
            </a:pPr>
            <a:r>
              <a:rPr sz="900" b="0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0700" y="3219450"/>
            <a:ext cx="200025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40"/>
              </a:lnSpc>
            </a:pPr>
            <a:r>
              <a:rPr sz="12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加权求和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0700" y="3505200"/>
            <a:ext cx="2000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用注意力权重对 V 加权求和，得到融合</a:t>
            </a:r>
          </a:p>
          <a:p>
            <a:pPr algn="l">
              <a:lnSpc>
                <a:spcPts val="126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全局上下文的新表示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4438650"/>
            <a:ext cx="228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170"/>
              </a:lnSpc>
            </a:pPr>
            <a:r>
              <a:rPr sz="980" b="0" i="0" spc="75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直观理解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4686300"/>
            <a:ext cx="6858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89"/>
              </a:lnSpc>
            </a:pPr>
            <a:r>
              <a:rPr sz="112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「它把杯子放在桌上，因为它是玻璃做的」——模型通过注意力判断第二个「它」指代的是杯子，而不是桌</a:t>
            </a:r>
          </a:p>
          <a:p>
            <a:pPr algn="l">
              <a:lnSpc>
                <a:spcPts val="1689"/>
              </a:lnSpc>
            </a:pPr>
            <a:r>
              <a:rPr sz="112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子。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5200650"/>
            <a:ext cx="6858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270"/>
              </a:lnSpc>
            </a:pPr>
            <a:r>
              <a:rPr sz="980" b="1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关键：第二个「它」 → 杯子（该位置的注意力权重最高）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0" y="4438650"/>
            <a:ext cx="228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170"/>
              </a:lnSpc>
            </a:pPr>
            <a:r>
              <a:rPr sz="980" b="0" i="0" spc="75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复杂度</a:t>
            </a:r>
          </a:p>
        </p:txBody>
      </p:sp>
      <p:pic>
        <p:nvPicPr>
          <p:cNvPr id="36" name="Picture 35" descr="crop-7-el_e0ed37f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4800" y="4210050"/>
            <a:ext cx="3886200" cy="12763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382000" y="5086350"/>
            <a:ext cx="2971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序列长度翻倍，计算量翻四倍——这是长上下文的核心瓶</a:t>
            </a:r>
          </a:p>
          <a:p>
            <a:pPr algn="l">
              <a:lnSpc>
                <a:spcPts val="126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颈。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36081" y="3317081"/>
            <a:ext cx="566737" cy="109537"/>
          </a:xfrm>
          <a:custGeom>
            <a:avLst/>
            <a:gdLst/>
            <a:ahLst/>
            <a:cxnLst/>
            <a:rect l="0" t="0" r="59" b="11"/>
            <a:pathLst>
              <a:path w="59" h="11" fill="none">
                <a:moveTo>
                  <a:pt x="2" y="6"/>
                </a:moveTo>
                <a:lnTo>
                  <a:pt x="58" y="6"/>
                </a:lnTo>
              </a:path>
            </a:pathLst>
          </a:custGeom>
          <a:noFill/>
          <a:ln w="13970" cap="flat">
            <a:solidFill>
              <a:srgbClr val="38BDF8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812631" y="3317081"/>
            <a:ext cx="566737" cy="109537"/>
          </a:xfrm>
          <a:custGeom>
            <a:avLst/>
            <a:gdLst/>
            <a:ahLst/>
            <a:cxnLst/>
            <a:rect l="0" t="0" r="59" b="11"/>
            <a:pathLst>
              <a:path w="59" h="11" fill="none">
                <a:moveTo>
                  <a:pt x="2" y="6"/>
                </a:moveTo>
                <a:lnTo>
                  <a:pt x="58" y="6"/>
                </a:lnTo>
              </a:path>
            </a:pathLst>
          </a:custGeom>
          <a:noFill/>
          <a:ln w="13970" cap="flat">
            <a:solidFill>
              <a:srgbClr val="38BDF8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8689181" y="3317081"/>
            <a:ext cx="566737" cy="109537"/>
          </a:xfrm>
          <a:custGeom>
            <a:avLst/>
            <a:gdLst/>
            <a:ahLst/>
            <a:cxnLst/>
            <a:rect l="0" t="0" r="59" b="11"/>
            <a:pathLst>
              <a:path w="59" h="11" fill="none">
                <a:moveTo>
                  <a:pt x="2" y="6"/>
                </a:moveTo>
                <a:lnTo>
                  <a:pt x="58" y="6"/>
                </a:lnTo>
              </a:path>
            </a:pathLst>
          </a:custGeom>
          <a:noFill/>
          <a:ln w="13970" cap="flat">
            <a:solidFill>
              <a:srgbClr val="38BDF8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1-el_b658f9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2300" y="5448300"/>
            <a:ext cx="3962400" cy="3962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800100" y="-800100"/>
            <a:ext cx="1143000" cy="1143000"/>
          </a:xfrm>
          <a:prstGeom prst="rect">
            <a:avLst/>
          </a:prstGeom>
          <a:noFill/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09600" y="4191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09600" y="2857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4000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大模型发展路径与技术原理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0" y="6534150"/>
            <a:ext cx="11049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81250" y="2857500"/>
            <a:ext cx="4457700" cy="1504950"/>
          </a:xfrm>
          <a:prstGeom prst="roundRect">
            <a:avLst>
              <a:gd name="adj" fmla="val 5063"/>
            </a:avLst>
          </a:prstGeom>
          <a:noFill/>
          <a:ln w="10160" cap="flat">
            <a:solidFill>
              <a:srgbClr val="243040"/>
            </a:solidFill>
            <a:prstDash val="dash"/>
            <a:miter/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2040731" y="3488531"/>
            <a:ext cx="528637" cy="109537"/>
          </a:xfrm>
          <a:custGeom>
            <a:avLst/>
            <a:gdLst/>
            <a:ahLst/>
            <a:cxnLst/>
            <a:rect l="0" t="0" r="55" b="11"/>
            <a:pathLst>
              <a:path w="55" h="11" fill="none">
                <a:moveTo>
                  <a:pt x="2" y="6"/>
                </a:moveTo>
                <a:lnTo>
                  <a:pt x="54" y="6"/>
                </a:lnTo>
              </a:path>
            </a:pathLst>
          </a:custGeom>
          <a:noFill/>
          <a:ln w="13970" cap="flat">
            <a:solidFill>
              <a:srgbClr val="8B9BB0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2040731" y="3488531"/>
            <a:ext cx="1462087" cy="109537"/>
          </a:xfrm>
          <a:custGeom>
            <a:avLst/>
            <a:gdLst/>
            <a:ahLst/>
            <a:cxnLst/>
            <a:rect l="0" t="0" r="153" b="11"/>
            <a:pathLst>
              <a:path w="153" h="11" fill="none">
                <a:moveTo>
                  <a:pt x="2" y="6"/>
                </a:moveTo>
                <a:lnTo>
                  <a:pt x="152" y="6"/>
                </a:lnTo>
              </a:path>
            </a:pathLst>
          </a:custGeom>
          <a:noFill/>
          <a:ln w="13970" cap="flat">
            <a:solidFill>
              <a:srgbClr val="8B9BB0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2040731" y="3488531"/>
            <a:ext cx="2395537" cy="109537"/>
          </a:xfrm>
          <a:custGeom>
            <a:avLst/>
            <a:gdLst/>
            <a:ahLst/>
            <a:cxnLst/>
            <a:rect l="0" t="0" r="251" b="11"/>
            <a:pathLst>
              <a:path w="251" h="11" fill="none">
                <a:moveTo>
                  <a:pt x="2" y="6"/>
                </a:moveTo>
                <a:lnTo>
                  <a:pt x="250" y="6"/>
                </a:lnTo>
              </a:path>
            </a:pathLst>
          </a:custGeom>
          <a:noFill/>
          <a:ln w="13970" cap="flat">
            <a:solidFill>
              <a:srgbClr val="8B9BB0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2040731" y="3488531"/>
            <a:ext cx="3328987" cy="109537"/>
          </a:xfrm>
          <a:custGeom>
            <a:avLst/>
            <a:gdLst/>
            <a:ahLst/>
            <a:cxnLst/>
            <a:rect l="0" t="0" r="349" b="11"/>
            <a:pathLst>
              <a:path w="349" h="11" fill="none">
                <a:moveTo>
                  <a:pt x="2" y="6"/>
                </a:moveTo>
                <a:lnTo>
                  <a:pt x="348" y="6"/>
                </a:lnTo>
              </a:path>
            </a:pathLst>
          </a:custGeom>
          <a:noFill/>
          <a:ln w="13970" cap="flat">
            <a:solidFill>
              <a:srgbClr val="8B9BB0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336131" y="3488531"/>
            <a:ext cx="3767137" cy="109537"/>
          </a:xfrm>
          <a:custGeom>
            <a:avLst/>
            <a:gdLst/>
            <a:ahLst/>
            <a:cxnLst/>
            <a:rect l="0" t="0" r="395" b="11"/>
            <a:pathLst>
              <a:path w="395" h="11" fill="none">
                <a:moveTo>
                  <a:pt x="2" y="6"/>
                </a:moveTo>
                <a:lnTo>
                  <a:pt x="394" y="6"/>
                </a:lnTo>
              </a:path>
            </a:pathLst>
          </a:custGeom>
          <a:noFill/>
          <a:ln w="13970" cap="flat">
            <a:solidFill>
              <a:srgbClr val="8B9BB0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269581" y="3488531"/>
            <a:ext cx="2833687" cy="109537"/>
          </a:xfrm>
          <a:custGeom>
            <a:avLst/>
            <a:gdLst/>
            <a:ahLst/>
            <a:cxnLst/>
            <a:rect l="0" t="0" r="297" b="11"/>
            <a:pathLst>
              <a:path w="297" h="11" fill="none">
                <a:moveTo>
                  <a:pt x="2" y="6"/>
                </a:moveTo>
                <a:lnTo>
                  <a:pt x="296" y="6"/>
                </a:lnTo>
              </a:path>
            </a:pathLst>
          </a:custGeom>
          <a:noFill/>
          <a:ln w="13970" cap="flat">
            <a:solidFill>
              <a:srgbClr val="8B9BB0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203031" y="3488531"/>
            <a:ext cx="1900237" cy="109537"/>
          </a:xfrm>
          <a:custGeom>
            <a:avLst/>
            <a:gdLst/>
            <a:ahLst/>
            <a:cxnLst/>
            <a:rect l="0" t="0" r="199" b="11"/>
            <a:pathLst>
              <a:path w="199" h="11" fill="none">
                <a:moveTo>
                  <a:pt x="2" y="6"/>
                </a:moveTo>
                <a:lnTo>
                  <a:pt x="198" y="6"/>
                </a:lnTo>
              </a:path>
            </a:pathLst>
          </a:custGeom>
          <a:noFill/>
          <a:ln w="13970" cap="flat">
            <a:solidFill>
              <a:srgbClr val="8B9BB0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136481" y="3488531"/>
            <a:ext cx="966787" cy="109537"/>
          </a:xfrm>
          <a:custGeom>
            <a:avLst/>
            <a:gdLst/>
            <a:ahLst/>
            <a:cxnLst/>
            <a:rect l="0" t="0" r="101" b="11"/>
            <a:pathLst>
              <a:path w="101" h="11" fill="none">
                <a:moveTo>
                  <a:pt x="2" y="6"/>
                </a:moveTo>
                <a:lnTo>
                  <a:pt x="100" y="6"/>
                </a:lnTo>
              </a:path>
            </a:pathLst>
          </a:custGeom>
          <a:noFill/>
          <a:ln w="13970" cap="flat">
            <a:solidFill>
              <a:srgbClr val="8B9BB0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365331" y="3488531"/>
            <a:ext cx="376237" cy="109537"/>
          </a:xfrm>
          <a:custGeom>
            <a:avLst/>
            <a:gdLst/>
            <a:ahLst/>
            <a:cxnLst/>
            <a:rect l="0" t="0" r="39" b="11"/>
            <a:pathLst>
              <a:path w="39" h="11" fill="none">
                <a:moveTo>
                  <a:pt x="2" y="6"/>
                </a:moveTo>
                <a:lnTo>
                  <a:pt x="38" y="6"/>
                </a:lnTo>
              </a:path>
            </a:pathLst>
          </a:custGeom>
          <a:noFill/>
          <a:ln w="13970" cap="flat">
            <a:solidFill>
              <a:srgbClr val="38BDF8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0003631" y="3488531"/>
            <a:ext cx="376237" cy="109537"/>
          </a:xfrm>
          <a:custGeom>
            <a:avLst/>
            <a:gdLst/>
            <a:ahLst/>
            <a:cxnLst/>
            <a:rect l="0" t="0" r="39" b="11"/>
            <a:pathLst>
              <a:path w="39" h="11" fill="none">
                <a:moveTo>
                  <a:pt x="2" y="6"/>
                </a:moveTo>
                <a:lnTo>
                  <a:pt x="38" y="6"/>
                </a:lnTo>
              </a:path>
            </a:pathLst>
          </a:custGeom>
          <a:noFill/>
          <a:ln w="13970" cap="flat">
            <a:solidFill>
              <a:srgbClr val="38BDF8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723900" y="3238500"/>
            <a:ext cx="1333500" cy="609600"/>
          </a:xfrm>
          <a:prstGeom prst="roundRect">
            <a:avLst>
              <a:gd name="adj" fmla="val 12500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2552700" y="3238500"/>
            <a:ext cx="800100" cy="609600"/>
          </a:xfrm>
          <a:prstGeom prst="roundRect">
            <a:avLst>
              <a:gd name="adj" fmla="val 12500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3486150" y="3238500"/>
            <a:ext cx="800100" cy="609600"/>
          </a:xfrm>
          <a:prstGeom prst="roundRect">
            <a:avLst>
              <a:gd name="adj" fmla="val 12500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4419600" y="3238500"/>
            <a:ext cx="800100" cy="609600"/>
          </a:xfrm>
          <a:prstGeom prst="roundRect">
            <a:avLst>
              <a:gd name="adj" fmla="val 12500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5353050" y="3238500"/>
            <a:ext cx="800100" cy="609600"/>
          </a:xfrm>
          <a:prstGeom prst="roundRect">
            <a:avLst>
              <a:gd name="adj" fmla="val 12500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7086600" y="3238500"/>
            <a:ext cx="1295400" cy="609600"/>
          </a:xfrm>
          <a:prstGeom prst="roundRect">
            <a:avLst>
              <a:gd name="adj" fmla="val 12500"/>
            </a:avLst>
          </a:prstGeom>
          <a:solidFill>
            <a:srgbClr val="16202C"/>
          </a:solidFill>
          <a:ln w="13970" cap="flat">
            <a:solidFill>
              <a:srgbClr val="38BDF8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724900" y="3238500"/>
            <a:ext cx="1295400" cy="609600"/>
          </a:xfrm>
          <a:prstGeom prst="roundRect">
            <a:avLst>
              <a:gd name="adj" fmla="val 12500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0363200" y="3238500"/>
            <a:ext cx="1028700" cy="609600"/>
          </a:xfrm>
          <a:prstGeom prst="roundRect">
            <a:avLst>
              <a:gd name="adj" fmla="val 12500"/>
            </a:avLst>
          </a:prstGeom>
          <a:solidFill>
            <a:srgbClr val="16202C"/>
          </a:solidFill>
          <a:ln w="13970" cap="flat">
            <a:solidFill>
              <a:srgbClr val="38BDF8"/>
            </a:solidFill>
            <a:miter/>
          </a:ln>
        </p:spPr>
        <p:txBody>
          <a:bodyPr rtlCol="0" anchor="ctr"/>
          <a:lstStyle/>
          <a:p/>
        </p:txBody>
      </p:sp>
      <p:pic>
        <p:nvPicPr>
          <p:cNvPr id="28" name="Picture 27" descr="crop-8-el_681e77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050" y="2133600"/>
            <a:ext cx="5372100" cy="1104900"/>
          </a:xfrm>
          <a:prstGeom prst="rect">
            <a:avLst/>
          </a:prstGeom>
        </p:spPr>
      </p:pic>
      <p:pic>
        <p:nvPicPr>
          <p:cNvPr id="29" name="Picture 28" descr="crop-8-el_b06518c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2781300"/>
            <a:ext cx="2247900" cy="1524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552700" y="3238500"/>
            <a:ext cx="8001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70"/>
              </a:lnSpc>
            </a:pPr>
            <a:r>
              <a:rPr sz="98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head 1</a:t>
            </a:r>
          </a:p>
        </p:txBody>
      </p:sp>
      <p:pic>
        <p:nvPicPr>
          <p:cNvPr id="31" name="Picture 30" descr="crop-8-el_fc3a5d9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3429000"/>
            <a:ext cx="1714500" cy="11049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486150" y="3238500"/>
            <a:ext cx="8001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70"/>
              </a:lnSpc>
            </a:pPr>
            <a:r>
              <a:rPr sz="98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head 2</a:t>
            </a:r>
          </a:p>
        </p:txBody>
      </p:sp>
      <p:pic>
        <p:nvPicPr>
          <p:cNvPr id="33" name="Picture 32" descr="crop-8-el_fc3a5d9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8950" y="3429000"/>
            <a:ext cx="1714500" cy="11049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419600" y="3238500"/>
            <a:ext cx="8001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70"/>
              </a:lnSpc>
            </a:pPr>
            <a:r>
              <a:rPr sz="98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head 3</a:t>
            </a:r>
          </a:p>
        </p:txBody>
      </p:sp>
      <p:pic>
        <p:nvPicPr>
          <p:cNvPr id="35" name="Picture 34" descr="crop-8-el_fc3a5d9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2400" y="3429000"/>
            <a:ext cx="1714500" cy="11049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353050" y="3238500"/>
            <a:ext cx="8001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70"/>
              </a:lnSpc>
            </a:pPr>
            <a:r>
              <a:rPr sz="98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head 4</a:t>
            </a:r>
          </a:p>
        </p:txBody>
      </p:sp>
      <p:pic>
        <p:nvPicPr>
          <p:cNvPr id="37" name="Picture 36" descr="crop-8-el_fc3a5d9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5850" y="3429000"/>
            <a:ext cx="1714500" cy="11049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286500" y="3238500"/>
            <a:ext cx="4191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820"/>
              </a:lnSpc>
            </a:pPr>
            <a:r>
              <a:rPr sz="165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3238500"/>
            <a:ext cx="12954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580"/>
              </a:lnSpc>
            </a:pPr>
            <a:r>
              <a:rPr sz="105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Concat</a:t>
            </a:r>
          </a:p>
          <a:p>
            <a:pPr algn="ctr">
              <a:lnSpc>
                <a:spcPts val="1580"/>
              </a:lnSpc>
            </a:pPr>
            <a:r>
              <a:rPr sz="105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拼接回 512 维</a:t>
            </a:r>
          </a:p>
        </p:txBody>
      </p:sp>
      <p:pic>
        <p:nvPicPr>
          <p:cNvPr id="40" name="Picture 39" descr="crop-8-el_4a67e9e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7700" y="2781300"/>
            <a:ext cx="2209800" cy="15240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363200" y="3238500"/>
            <a:ext cx="10287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460"/>
              </a:lnSpc>
            </a:pPr>
            <a:r>
              <a:rPr sz="112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9600" y="481965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pic>
        <p:nvPicPr>
          <p:cNvPr id="43" name="Picture 42" descr="crop-8-el_2f2db4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" y="4495800"/>
            <a:ext cx="11887200" cy="12954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09600" y="5524500"/>
            <a:ext cx="51435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4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为什么有效：不同的头可以关注不同的语言现象——有的头盯语法依存，有的头盯指代关系，有的头</a:t>
            </a:r>
          </a:p>
          <a:p>
            <a:pPr algn="l">
              <a:lnSpc>
                <a:spcPts val="144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盯位置邻近；相当于让模型从多个「视角」同时看同一句话。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0" y="5524500"/>
            <a:ext cx="43815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4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工程细节：h 个头并行计算，总计算量与单头全维注意力相当，但表达能力显著更强。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600" y="590550"/>
            <a:ext cx="571500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多头注意力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9600" y="1066800"/>
            <a:ext cx="533400" cy="38100"/>
          </a:xfrm>
          <a:prstGeom prst="rect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257300" y="990600"/>
            <a:ext cx="4000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080"/>
              </a:lnSpc>
            </a:pPr>
            <a:r>
              <a:rPr sz="900" b="0" i="0" spc="15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MULTI-HEAD ATTENTION</a:t>
            </a:r>
          </a:p>
        </p:txBody>
      </p:sp>
      <p:pic>
        <p:nvPicPr>
          <p:cNvPr id="49" name="Picture 48" descr="crop-8-el_fb50e71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400" y="971550"/>
            <a:ext cx="11887200" cy="11620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1-el_b658f9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2300" y="5448300"/>
            <a:ext cx="3962400" cy="3962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800100" y="-800100"/>
            <a:ext cx="1143000" cy="1143000"/>
          </a:xfrm>
          <a:prstGeom prst="rect">
            <a:avLst/>
          </a:prstGeom>
          <a:noFill/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09600" y="4191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09600" y="2857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4000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大模型发展路径与技术原理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0" y="6534150"/>
            <a:ext cx="11049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0" y="1333500"/>
            <a:ext cx="9525" cy="4953000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09600" y="1943100"/>
            <a:ext cx="5143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自注意力本身是「置换不变」的——打乱词序，输出不变。但语序显然重要：「狗咬</a:t>
            </a:r>
          </a:p>
          <a:p>
            <a:pPr algn="l">
              <a:lnSpc>
                <a:spcPts val="1680"/>
              </a:lnSpc>
            </a:pPr>
            <a:r>
              <a:rPr sz="105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人」≠「人咬狗」。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609850"/>
            <a:ext cx="5143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给每个位置的词向量加上一个位置向量，原始论文用正弦 / 余弦函数：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676650"/>
            <a:ext cx="5143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不同频率的正弦波让模型能通过线性变换表达相对位置，并可外推到训练时没见过的更</a:t>
            </a:r>
          </a:p>
          <a:p>
            <a:pPr algn="l">
              <a:lnSpc>
                <a:spcPts val="1680"/>
              </a:lnSpc>
            </a:pPr>
            <a:r>
              <a:rPr sz="105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长序列。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343400"/>
            <a:ext cx="5143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RoPE 把位置信息编码成向量旋转，已是 LLaMA 等主流模型的选择；ALiBi 则用注意力</a:t>
            </a:r>
          </a:p>
          <a:p>
            <a:pPr algn="l">
              <a:lnSpc>
                <a:spcPts val="1680"/>
              </a:lnSpc>
            </a:pPr>
            <a:r>
              <a:rPr sz="105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偏置直接注入距离惩罚。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900" y="2343150"/>
            <a:ext cx="5143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给梯度一条「高速公路」，让几十上百层的网络也能稳定训练，避免梯度消失。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3009900"/>
            <a:ext cx="5143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对每个样本的特征维度做归一化，稳定激活分布、加速收敛，让深层网络更好训练。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3676650"/>
            <a:ext cx="5143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Pre-LN 把归一化放到子层之前，比原始 Post-LN 更容易训练。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4133850"/>
            <a:ext cx="5143500" cy="590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RMSNorm 去掉均值中心化，只用均方根缩放，计算更省，被 LLaMA 系列广泛采用。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47700"/>
            <a:ext cx="78105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位置编码与残差连接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1143000"/>
            <a:ext cx="609600" cy="28575"/>
          </a:xfrm>
          <a:prstGeom prst="rect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38900" y="762000"/>
            <a:ext cx="51435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08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POSITIONAL ENCODING · RESIDUAL + LAYERNORM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1333500"/>
            <a:ext cx="51435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位置编码 Positional Encoding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1733550"/>
            <a:ext cx="5143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40"/>
              </a:lnSpc>
            </a:pPr>
            <a:r>
              <a:rPr sz="12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问题：置换不变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2400300"/>
            <a:ext cx="5143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40"/>
              </a:lnSpc>
            </a:pPr>
            <a:r>
              <a:rPr sz="12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做法：叠加位置向量</a:t>
            </a:r>
          </a:p>
        </p:txBody>
      </p:sp>
      <p:pic>
        <p:nvPicPr>
          <p:cNvPr id="24" name="Picture 23" descr="crop-9-el_e02a95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2286000"/>
            <a:ext cx="6057900" cy="1447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9600" y="3467100"/>
            <a:ext cx="5143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40"/>
              </a:lnSpc>
            </a:pPr>
            <a:r>
              <a:rPr sz="12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优点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4133850"/>
            <a:ext cx="5143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40"/>
              </a:lnSpc>
            </a:pPr>
            <a:r>
              <a:rPr sz="12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现代演进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4838700"/>
            <a:ext cx="5143500" cy="1333500"/>
          </a:xfrm>
          <a:custGeom>
            <a:avLst/>
            <a:gdLst/>
            <a:ahLst/>
            <a:cxnLst/>
            <a:rect l="0" t="0" r="540" b="140"/>
            <a:pathLst>
              <a:path w="540" h="140">
                <a:moveTo>
                  <a:pt x="0" y="70"/>
                </a:moveTo>
                <a:cubicBezTo>
                  <a:pt x="36" y="43"/>
                  <a:pt x="72" y="43"/>
                  <a:pt x="108" y="70"/>
                </a:cubicBezTo>
                <a:cubicBezTo>
                  <a:pt x="144" y="97"/>
                  <a:pt x="180" y="97"/>
                  <a:pt x="216" y="70"/>
                </a:cubicBezTo>
                <a:cubicBezTo>
                  <a:pt x="252" y="43"/>
                  <a:pt x="288" y="43"/>
                  <a:pt x="324" y="70"/>
                </a:cubicBezTo>
                <a:cubicBezTo>
                  <a:pt x="360" y="97"/>
                  <a:pt x="396" y="97"/>
                  <a:pt x="432" y="70"/>
                </a:cubicBezTo>
                <a:cubicBezTo>
                  <a:pt x="468" y="43"/>
                  <a:pt x="504" y="43"/>
                  <a:pt x="540" y="70"/>
                </a:cubicBezTo>
              </a:path>
            </a:pathLst>
          </a:custGeom>
          <a:noFill/>
          <a:ln w="13970" cap="rnd">
            <a:solidFill>
              <a:srgbClr val="38BDF8"/>
            </a:solidFill>
            <a:miter/>
          </a:ln>
        </p:spPr>
        <p:txBody>
          <a:bodyPr rtlCol="0" anchor="ctr"/>
          <a:lstStyle/>
          <a:p/>
        </p:txBody>
      </p:sp>
      <p:pic>
        <p:nvPicPr>
          <p:cNvPr id="28" name="Picture 27" descr="crop-9-el_8f5292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4381500"/>
            <a:ext cx="6057900" cy="2247900"/>
          </a:xfrm>
          <a:prstGeom prst="rect">
            <a:avLst/>
          </a:prstGeom>
        </p:spPr>
      </p:pic>
      <p:pic>
        <p:nvPicPr>
          <p:cNvPr id="29" name="Picture 28" descr="crop-9-el_b116e8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" y="4381500"/>
            <a:ext cx="6057900" cy="22479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38900" y="1333500"/>
            <a:ext cx="51435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残差连接 + 层归一化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8900" y="1733550"/>
            <a:ext cx="5143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40"/>
              </a:lnSpc>
            </a:pPr>
            <a:r>
              <a:rPr sz="12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残差连接 Residual</a:t>
            </a:r>
          </a:p>
        </p:txBody>
      </p:sp>
      <p:pic>
        <p:nvPicPr>
          <p:cNvPr id="32" name="Picture 31" descr="crop-9-el_8766c62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1700" y="1504950"/>
            <a:ext cx="6057900" cy="12382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38900" y="2800350"/>
            <a:ext cx="5143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40"/>
              </a:lnSpc>
            </a:pPr>
            <a:r>
              <a:rPr sz="12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层归一化 LayerNorm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8900" y="3467100"/>
            <a:ext cx="5143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40"/>
              </a:lnSpc>
            </a:pPr>
            <a:r>
              <a:rPr sz="12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现代变体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34250" y="5191125"/>
            <a:ext cx="1619250" cy="533400"/>
          </a:xfrm>
          <a:prstGeom prst="roundRect">
            <a:avLst>
              <a:gd name="adj" fmla="val 14285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09600" y="4819650"/>
            <a:ext cx="38100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08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位置编码波形：不同频率的正弦波叠加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8900" y="4819650"/>
            <a:ext cx="40005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08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残差绕行：恒等映射 x 跨过子层后汇合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38900" y="5314950"/>
            <a:ext cx="3429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440"/>
              </a:lnSpc>
            </a:pPr>
            <a:r>
              <a:rPr sz="120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03231" y="5403056"/>
            <a:ext cx="547687" cy="109537"/>
          </a:xfrm>
          <a:custGeom>
            <a:avLst/>
            <a:gdLst/>
            <a:ahLst/>
            <a:cxnLst/>
            <a:rect l="0" t="0" r="57" b="11"/>
            <a:pathLst>
              <a:path w="57" h="11" fill="none">
                <a:moveTo>
                  <a:pt x="2" y="6"/>
                </a:moveTo>
                <a:lnTo>
                  <a:pt x="56" y="6"/>
                </a:lnTo>
              </a:path>
            </a:pathLst>
          </a:custGeom>
          <a:noFill/>
          <a:ln w="13970" cap="flat">
            <a:solidFill>
              <a:srgbClr val="243040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334250" y="5191125"/>
            <a:ext cx="16192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60"/>
              </a:lnSpc>
            </a:pPr>
            <a:r>
              <a:rPr sz="105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Sublayer(x)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36831" y="5403056"/>
            <a:ext cx="2471737" cy="109537"/>
          </a:xfrm>
          <a:custGeom>
            <a:avLst/>
            <a:gdLst/>
            <a:ahLst/>
            <a:cxnLst/>
            <a:rect l="0" t="0" r="259" b="11"/>
            <a:pathLst>
              <a:path w="259" h="11" fill="none">
                <a:moveTo>
                  <a:pt x="2" y="6"/>
                </a:moveTo>
                <a:lnTo>
                  <a:pt x="258" y="6"/>
                </a:lnTo>
              </a:path>
            </a:pathLst>
          </a:custGeom>
          <a:noFill/>
          <a:ln w="13970" cap="flat">
            <a:solidFill>
              <a:srgbClr val="243040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105900" y="5086350"/>
            <a:ext cx="2324100" cy="2286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ts val="1260"/>
              </a:lnSpc>
            </a:pPr>
            <a:r>
              <a:rPr sz="1050" b="0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x + Sublayer(x)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79456" y="4974431"/>
            <a:ext cx="33337" cy="500062"/>
          </a:xfrm>
          <a:custGeom>
            <a:avLst/>
            <a:gdLst/>
            <a:ahLst/>
            <a:cxnLst/>
            <a:rect l="0" t="0" r="3" b="52"/>
            <a:pathLst>
              <a:path w="3" h="52" fill="none">
                <a:moveTo>
                  <a:pt x="2" y="51"/>
                </a:moveTo>
                <a:lnTo>
                  <a:pt x="2" y="2"/>
                </a:lnTo>
              </a:path>
            </a:pathLst>
          </a:custGeom>
          <a:noFill/>
          <a:ln w="13970" cap="flat">
            <a:solidFill>
              <a:srgbClr val="38BDF8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079456" y="4974431"/>
            <a:ext cx="3605212" cy="538162"/>
          </a:xfrm>
          <a:custGeom>
            <a:avLst/>
            <a:gdLst/>
            <a:ahLst/>
            <a:cxnLst/>
            <a:rect l="0" t="0" r="378" b="56"/>
            <a:pathLst>
              <a:path w="378" h="56" fill="none">
                <a:moveTo>
                  <a:pt x="2" y="2"/>
                </a:moveTo>
                <a:lnTo>
                  <a:pt x="181" y="2"/>
                </a:lnTo>
                <a:cubicBezTo>
                  <a:pt x="187" y="2"/>
                  <a:pt x="189" y="4"/>
                  <a:pt x="189" y="10"/>
                </a:cubicBezTo>
                <a:lnTo>
                  <a:pt x="189" y="43"/>
                </a:lnTo>
                <a:cubicBezTo>
                  <a:pt x="189" y="48"/>
                  <a:pt x="192" y="51"/>
                  <a:pt x="197" y="51"/>
                </a:cubicBezTo>
                <a:lnTo>
                  <a:pt x="377" y="51"/>
                </a:lnTo>
              </a:path>
            </a:pathLst>
          </a:custGeom>
          <a:noFill/>
          <a:ln w="13970" cap="flat">
            <a:solidFill>
              <a:srgbClr val="38BDF8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1-el_b658f9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2300" y="5448300"/>
            <a:ext cx="3962400" cy="3962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800100" y="-800100"/>
            <a:ext cx="1143000" cy="1143000"/>
          </a:xfrm>
          <a:prstGeom prst="rect">
            <a:avLst/>
          </a:prstGeom>
          <a:noFill/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pic>
        <p:nvPicPr>
          <p:cNvPr id="4" name="Picture 3" descr="crop-10-el_ec2453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1257300"/>
            <a:ext cx="5486400" cy="5486400"/>
          </a:xfrm>
          <a:prstGeom prst="rect">
            <a:avLst/>
          </a:prstGeom>
        </p:spPr>
      </p:pic>
      <p:pic>
        <p:nvPicPr>
          <p:cNvPr id="5" name="Picture 4" descr="crop-10-el_22ce14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2050" y="1924050"/>
            <a:ext cx="4152900" cy="4152900"/>
          </a:xfrm>
          <a:prstGeom prst="rect">
            <a:avLst/>
          </a:prstGeom>
        </p:spPr>
      </p:pic>
      <p:pic>
        <p:nvPicPr>
          <p:cNvPr id="6" name="Picture 5" descr="crop-10-el_22ae9fa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8800" y="2590800"/>
            <a:ext cx="2819400" cy="2819400"/>
          </a:xfrm>
          <a:prstGeom prst="rect">
            <a:avLst/>
          </a:prstGeom>
        </p:spPr>
      </p:pic>
      <p:pic>
        <p:nvPicPr>
          <p:cNvPr id="7" name="Picture 6" descr="crop-10-el_e40a2f1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25200" y="685800"/>
            <a:ext cx="942975" cy="52959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9600" y="4191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47750" y="914400"/>
            <a:ext cx="3619500" cy="1752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200"/>
              </a:lnSpc>
            </a:pPr>
            <a:r>
              <a:rPr sz="12000" b="1" i="0" spc="-300">
                <a:solidFill>
                  <a:srgbClr val="24304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" y="2857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09600" y="6534150"/>
            <a:ext cx="4000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大模型发展路径与技术原理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0" y="6534150"/>
            <a:ext cx="11049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" y="2857500"/>
            <a:ext cx="38100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120" b="0" i="0" spc="225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PRETRAIN · SFT · RLHF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3162300"/>
            <a:ext cx="66675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4290"/>
              </a:lnSpc>
            </a:pPr>
            <a:r>
              <a:rPr sz="33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训练全流程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5850" y="3924300"/>
            <a:ext cx="685800" cy="38100"/>
          </a:xfrm>
          <a:prstGeom prst="rect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66800" y="4229100"/>
            <a:ext cx="6477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一个可用的大模型要走过三段路：在海量语料上学会语言（预训练），在指令数据上学会听话</a:t>
            </a:r>
          </a:p>
          <a:p>
            <a:pPr algn="l">
              <a:lnSpc>
                <a:spcPts val="1920"/>
              </a:lnSpc>
            </a:pPr>
            <a:r>
              <a:rPr sz="12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（SFT），在人类偏好上学会得体（RLHF/DPO）。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1-el_b658f9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2300" y="5448300"/>
            <a:ext cx="3962400" cy="3962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800100" y="-800100"/>
            <a:ext cx="1143000" cy="1143000"/>
          </a:xfrm>
          <a:prstGeom prst="rect">
            <a:avLst/>
          </a:prstGeom>
          <a:noFill/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09600" y="4191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09600" y="2857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4000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大模型发展路径与技术原理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0" y="6534150"/>
            <a:ext cx="11049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59055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 spc="112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THREE STAGES OF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876300"/>
            <a:ext cx="76200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880"/>
              </a:lnSpc>
            </a:pPr>
            <a:r>
              <a:rPr sz="24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训练三阶段总览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428750"/>
            <a:ext cx="609600" cy="38100"/>
          </a:xfrm>
          <a:prstGeom prst="rect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09600" y="2038350"/>
            <a:ext cx="3200400" cy="876300"/>
          </a:xfrm>
          <a:prstGeom prst="roundRect">
            <a:avLst>
              <a:gd name="adj" fmla="val 15217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495800" y="2038350"/>
            <a:ext cx="3200400" cy="876300"/>
          </a:xfrm>
          <a:prstGeom prst="roundRect">
            <a:avLst>
              <a:gd name="adj" fmla="val 15217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382000" y="2038350"/>
            <a:ext cx="3200400" cy="876300"/>
          </a:xfrm>
          <a:prstGeom prst="roundRect">
            <a:avLst>
              <a:gd name="adj" fmla="val 15217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924300" y="2333625"/>
            <a:ext cx="457200" cy="285750"/>
          </a:xfrm>
          <a:prstGeom prst="chevron">
            <a:avLst/>
          </a:prstGeom>
          <a:solidFill>
            <a:srgbClr val="243040"/>
          </a:solidFill>
          <a:ln w="13970" cap="flat">
            <a:solidFill>
              <a:srgbClr val="38BDF8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7810500" y="2333625"/>
            <a:ext cx="457200" cy="285750"/>
          </a:xfrm>
          <a:prstGeom prst="chevron">
            <a:avLst/>
          </a:prstGeom>
          <a:solidFill>
            <a:srgbClr val="243040"/>
          </a:solidFill>
          <a:ln w="13970" cap="flat">
            <a:solidFill>
              <a:srgbClr val="38BDF8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09600" y="1619250"/>
            <a:ext cx="762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5800" y="1619250"/>
            <a:ext cx="762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0" y="1619250"/>
            <a:ext cx="762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2171700"/>
            <a:ext cx="320040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2160"/>
              </a:lnSpc>
            </a:pPr>
            <a:r>
              <a:rPr sz="18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预训练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2590800"/>
            <a:ext cx="32004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150"/>
              </a:lnSpc>
            </a:pPr>
            <a:r>
              <a:rPr sz="819" b="0" i="0" spc="15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PRETRAINING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2171700"/>
            <a:ext cx="320040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2160"/>
              </a:lnSpc>
            </a:pPr>
            <a:r>
              <a:rPr sz="18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监督微调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5800" y="2590800"/>
            <a:ext cx="32004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150"/>
              </a:lnSpc>
            </a:pPr>
            <a:r>
              <a:rPr sz="819" b="0" i="0" spc="15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SUPERVISED FINE-TUNING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0" y="2171700"/>
            <a:ext cx="320040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2160"/>
              </a:lnSpc>
            </a:pPr>
            <a:r>
              <a:rPr sz="18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偏好对齐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0" y="2590800"/>
            <a:ext cx="32004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150"/>
              </a:lnSpc>
            </a:pPr>
            <a:r>
              <a:rPr sz="819" b="0" i="0" spc="15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RLHF / DPO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3067050"/>
            <a:ext cx="32004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目标 · 学会语言本身——语法、事实、推理模式的隐式表</a:t>
            </a:r>
          </a:p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征。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3657600"/>
            <a:ext cx="32004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数据 · 数万亿 token 的网页、书籍、代码、论文。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4248150"/>
            <a:ext cx="32004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方法 · 自监督的「下一个 token 预测」。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4838700"/>
            <a:ext cx="32004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产出 · 基座模型 Base Model（会续写，但不会听话）。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5800" y="3067050"/>
            <a:ext cx="32004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目标 · 学会「按指令回答」的格式与风格。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5800" y="3657600"/>
            <a:ext cx="32004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数据 · 数万至数十万条人工标注的「指令—回答」对。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5800" y="4248150"/>
            <a:ext cx="32004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方法 · 在基座模型上继续监督学习，损失只算回答部分。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5800" y="4838700"/>
            <a:ext cx="32004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产出 · 指令模型 Instruct Model（能对话，但未必得</a:t>
            </a:r>
          </a:p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体）。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0" y="3067050"/>
            <a:ext cx="32004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目标 · 让输出符合人类偏好——有用、诚实、无害。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0" y="3657600"/>
            <a:ext cx="32004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数据 · 人类对多个回答的排序偏好数据。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0" y="4248150"/>
            <a:ext cx="32004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方法 · 训练奖励模型 RM，再用 PPO 强化学习；DPO 直</a:t>
            </a:r>
          </a:p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接优化。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0" y="4838700"/>
            <a:ext cx="32004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产出 · 可上线的对话模型 Chat Model。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600" y="563880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38200" y="5600700"/>
            <a:ext cx="10744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预训练决定「能力上限」，SFT 决定「会不会用」，对齐决定「用得放不放心」。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1-el_b658f9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2300" y="5448300"/>
            <a:ext cx="3962400" cy="3962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800100" y="-800100"/>
            <a:ext cx="1143000" cy="1143000"/>
          </a:xfrm>
          <a:prstGeom prst="rect">
            <a:avLst/>
          </a:prstGeom>
          <a:noFill/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09600" y="4191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09600" y="2857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4000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大模型发展路径与技术原理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0" y="6534150"/>
            <a:ext cx="11049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" y="1562100"/>
            <a:ext cx="10972800" cy="838200"/>
          </a:xfrm>
          <a:prstGeom prst="roundRect">
            <a:avLst>
              <a:gd name="adj" fmla="val 9090"/>
            </a:avLst>
          </a:prstGeom>
          <a:solidFill>
            <a:srgbClr val="16202C"/>
          </a:solidFill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620000" y="3771900"/>
            <a:ext cx="39624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620000" y="5219700"/>
            <a:ext cx="39624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09600" y="647700"/>
            <a:ext cx="6096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预训练与缩放定律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104900"/>
            <a:ext cx="43815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080"/>
              </a:lnSpc>
            </a:pPr>
            <a:r>
              <a:rPr sz="900" b="0" i="0" spc="15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SCALING LAWS · PRETRAIN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1333500"/>
            <a:ext cx="533400" cy="28575"/>
          </a:xfrm>
          <a:prstGeom prst="rect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8200" y="1562100"/>
            <a:ext cx="24765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性能与规模呈幂律关系</a:t>
            </a:r>
          </a:p>
        </p:txBody>
      </p:sp>
      <p:pic>
        <p:nvPicPr>
          <p:cNvPr id="16" name="Picture 15" descr="crop-12-el_9a0745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700" y="1104900"/>
            <a:ext cx="9105900" cy="1752600"/>
          </a:xfrm>
          <a:prstGeom prst="rect">
            <a:avLst/>
          </a:prstGeom>
        </p:spPr>
      </p:pic>
      <p:pic>
        <p:nvPicPr>
          <p:cNvPr id="17" name="Picture 16" descr="chart-12-el_b436753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692150" y="2628900"/>
            <a:ext cx="6502400" cy="3657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20000" y="2628900"/>
            <a:ext cx="39624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080"/>
              </a:lnSpc>
            </a:pPr>
            <a:r>
              <a:rPr sz="900" b="0" i="0" spc="75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CHINCHILLA 最优配比 · 2022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0" y="2876550"/>
            <a:ext cx="39624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9"/>
              </a:lnSpc>
            </a:pPr>
            <a:r>
              <a:rPr sz="105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在给定算力预算下，参数量与训练 token 数应大致按 1 : 20 同步增</a:t>
            </a:r>
          </a:p>
          <a:p>
            <a:pPr algn="l">
              <a:lnSpc>
                <a:spcPts val="1789"/>
              </a:lnSpc>
            </a:pPr>
            <a:r>
              <a:rPr sz="105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长——此前的大模型普遍「参数过大、数据不足」。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0" y="3962400"/>
            <a:ext cx="39624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080"/>
              </a:lnSpc>
            </a:pPr>
            <a:r>
              <a:rPr sz="900" b="0" i="0" spc="75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读图结论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0" y="4210050"/>
            <a:ext cx="39624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9"/>
              </a:lnSpc>
            </a:pPr>
            <a:r>
              <a:rPr sz="105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曲线随数据量增加持续下降但斜率变缓；参数量越大，整条曲线越</a:t>
            </a:r>
          </a:p>
          <a:p>
            <a:pPr algn="l">
              <a:lnSpc>
                <a:spcPts val="1789"/>
              </a:lnSpc>
            </a:pPr>
            <a:r>
              <a:rPr sz="105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低——「规模」确实带来能力，但边际收益递减。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0" y="5410200"/>
            <a:ext cx="39624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080"/>
              </a:lnSpc>
            </a:pPr>
            <a:r>
              <a:rPr sz="900" b="0" i="0" spc="75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工程现实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0" y="5657850"/>
            <a:ext cx="39624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预训练一次成本可达数千万美元，因此数据配比、并行策略（数据并行 / </a:t>
            </a:r>
          </a:p>
          <a:p>
            <a:pPr algn="l">
              <a:lnSpc>
                <a:spcPts val="16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张量并行 / 流水并行）、混合精度与检查点恢复都是核心工程问题。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13-el_2b3d8e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2300" y="5448300"/>
            <a:ext cx="3962400" cy="3962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800100" y="-800100"/>
            <a:ext cx="1143000" cy="1143000"/>
          </a:xfrm>
          <a:prstGeom prst="rect">
            <a:avLst/>
          </a:prstGeom>
          <a:noFill/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38200" y="1866900"/>
            <a:ext cx="533400" cy="381000"/>
          </a:xfrm>
          <a:custGeom>
            <a:avLst/>
            <a:gdLst/>
            <a:ahLst/>
            <a:cxnLst/>
            <a:rect l="0" t="0" r="56" b="40"/>
            <a:pathLst>
              <a:path w="56" h="40">
                <a:moveTo>
                  <a:pt x="55" y="25"/>
                </a:moveTo>
                <a:lnTo>
                  <a:pt x="9" y="36"/>
                </a:lnTo>
                <a:cubicBezTo>
                  <a:pt x="8" y="36"/>
                  <a:pt x="7" y="36"/>
                  <a:pt x="7" y="35"/>
                </a:cubicBezTo>
                <a:lnTo>
                  <a:pt x="8" y="12"/>
                </a:lnTo>
                <a:cubicBezTo>
                  <a:pt x="10" y="11"/>
                  <a:pt x="55" y="2"/>
                  <a:pt x="55" y="2"/>
                </a:cubicBezTo>
                <a:cubicBezTo>
                  <a:pt x="55" y="1"/>
                  <a:pt x="56" y="2"/>
                  <a:pt x="56" y="3"/>
                </a:cubicBezTo>
                <a:lnTo>
                  <a:pt x="56" y="24"/>
                </a:lnTo>
                <a:cubicBezTo>
                  <a:pt x="56" y="25"/>
                  <a:pt x="55" y="25"/>
                  <a:pt x="55" y="25"/>
                </a:cubicBezTo>
                <a:close/>
              </a:path>
            </a:pathLst>
          </a:custGeom>
          <a:solidFill>
            <a:srgbClr val="2E3436"/>
          </a:solidFill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09600" y="4191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38200" y="1866900"/>
            <a:ext cx="533400" cy="381000"/>
          </a:xfrm>
          <a:custGeom>
            <a:avLst/>
            <a:gdLst/>
            <a:ahLst/>
            <a:cxnLst/>
            <a:rect l="0" t="0" r="56" b="40"/>
            <a:pathLst>
              <a:path w="56" h="40">
                <a:moveTo>
                  <a:pt x="55" y="2"/>
                </a:moveTo>
                <a:lnTo>
                  <a:pt x="50" y="0"/>
                </a:lnTo>
                <a:cubicBezTo>
                  <a:pt x="50" y="0"/>
                  <a:pt x="49" y="0"/>
                  <a:pt x="49" y="0"/>
                </a:cubicBezTo>
                <a:lnTo>
                  <a:pt x="2" y="10"/>
                </a:lnTo>
                <a:cubicBezTo>
                  <a:pt x="3" y="12"/>
                  <a:pt x="2" y="32"/>
                  <a:pt x="2" y="32"/>
                </a:cubicBezTo>
                <a:cubicBezTo>
                  <a:pt x="2" y="32"/>
                  <a:pt x="6" y="35"/>
                  <a:pt x="8" y="36"/>
                </a:cubicBezTo>
                <a:lnTo>
                  <a:pt x="9" y="34"/>
                </a:lnTo>
                <a:lnTo>
                  <a:pt x="52" y="24"/>
                </a:lnTo>
                <a:cubicBezTo>
                  <a:pt x="53" y="24"/>
                  <a:pt x="54" y="23"/>
                  <a:pt x="54" y="22"/>
                </a:cubicBezTo>
                <a:lnTo>
                  <a:pt x="54" y="2"/>
                </a:lnTo>
                <a:close/>
              </a:path>
            </a:pathLst>
          </a:custGeom>
          <a:solidFill>
            <a:srgbClr val="000000"/>
          </a:solidFill>
        </p:spPr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09600" y="2857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9600" y="6534150"/>
            <a:ext cx="400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大模型发展路径与技术原理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34150"/>
            <a:ext cx="11049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8200" y="1866900"/>
            <a:ext cx="533400" cy="381000"/>
          </a:xfrm>
          <a:custGeom>
            <a:avLst/>
            <a:gdLst/>
            <a:ahLst/>
            <a:cxnLst/>
            <a:rect l="0" t="0" r="56" b="40"/>
            <a:pathLst>
              <a:path w="56" h="40">
                <a:moveTo>
                  <a:pt x="7" y="39"/>
                </a:moveTo>
                <a:lnTo>
                  <a:pt x="7" y="40"/>
                </a:lnTo>
                <a:lnTo>
                  <a:pt x="8" y="40"/>
                </a:lnTo>
                <a:lnTo>
                  <a:pt x="8" y="40"/>
                </a:lnTo>
                <a:lnTo>
                  <a:pt x="8" y="40"/>
                </a:lnTo>
                <a:lnTo>
                  <a:pt x="8" y="11"/>
                </a:lnTo>
                <a:lnTo>
                  <a:pt x="1" y="6"/>
                </a:lnTo>
                <a:lnTo>
                  <a:pt x="0" y="6"/>
                </a:lnTo>
                <a:lnTo>
                  <a:pt x="1" y="8"/>
                </a:lnTo>
                <a:lnTo>
                  <a:pt x="1" y="35"/>
                </a:lnTo>
                <a:close/>
                <a:moveTo>
                  <a:pt x="7" y="11"/>
                </a:moveTo>
                <a:lnTo>
                  <a:pt x="7" y="40"/>
                </a:lnTo>
                <a:lnTo>
                  <a:pt x="0" y="35"/>
                </a:lnTo>
                <a:lnTo>
                  <a:pt x="0" y="6"/>
                </a:lnTo>
                <a:close/>
              </a:path>
            </a:pathLst>
          </a:custGeom>
          <a:solidFill>
            <a:srgbClr val="2E3436"/>
          </a:solidFill>
        </p:spPr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09600" y="1524000"/>
            <a:ext cx="10972800" cy="800100"/>
          </a:xfrm>
          <a:prstGeom prst="roundRect">
            <a:avLst>
              <a:gd name="adj" fmla="val 9523"/>
            </a:avLst>
          </a:prstGeom>
          <a:solidFill>
            <a:srgbClr val="16202C"/>
          </a:solidFill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09600" y="2524125"/>
            <a:ext cx="10972800" cy="800100"/>
          </a:xfrm>
          <a:prstGeom prst="roundRect">
            <a:avLst>
              <a:gd name="adj" fmla="val 9523"/>
            </a:avLst>
          </a:prstGeom>
          <a:solidFill>
            <a:srgbClr val="16202C"/>
          </a:solidFill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09600" y="3524250"/>
            <a:ext cx="10972800" cy="800100"/>
          </a:xfrm>
          <a:prstGeom prst="roundRect">
            <a:avLst>
              <a:gd name="adj" fmla="val 9523"/>
            </a:avLst>
          </a:prstGeom>
          <a:solidFill>
            <a:srgbClr val="16202C"/>
          </a:solidFill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09600" y="4524375"/>
            <a:ext cx="10972800" cy="800100"/>
          </a:xfrm>
          <a:prstGeom prst="roundRect">
            <a:avLst>
              <a:gd name="adj" fmla="val 9523"/>
            </a:avLst>
          </a:prstGeom>
          <a:solidFill>
            <a:srgbClr val="16202C"/>
          </a:solidFill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38200" y="1657350"/>
            <a:ext cx="533400" cy="533400"/>
          </a:xfrm>
          <a:prstGeom prst="roundRect">
            <a:avLst>
              <a:gd name="adj" fmla="val 14285"/>
            </a:avLst>
          </a:prstGeom>
          <a:solidFill>
            <a:srgbClr val="1B2735"/>
          </a:solidFill>
        </p:spPr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38200" y="2657475"/>
            <a:ext cx="533400" cy="533400"/>
          </a:xfrm>
          <a:prstGeom prst="roundRect">
            <a:avLst>
              <a:gd name="adj" fmla="val 14285"/>
            </a:avLst>
          </a:prstGeom>
          <a:solidFill>
            <a:srgbClr val="1B2735"/>
          </a:solidFill>
        </p:spPr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838200" y="3657600"/>
            <a:ext cx="533400" cy="533400"/>
          </a:xfrm>
          <a:prstGeom prst="roundRect">
            <a:avLst>
              <a:gd name="adj" fmla="val 14285"/>
            </a:avLst>
          </a:prstGeom>
          <a:solidFill>
            <a:srgbClr val="1B2735"/>
          </a:solidFill>
        </p:spPr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38200" y="4657725"/>
            <a:ext cx="533400" cy="533400"/>
          </a:xfrm>
          <a:prstGeom prst="roundRect">
            <a:avLst>
              <a:gd name="adj" fmla="val 14285"/>
            </a:avLst>
          </a:prstGeom>
          <a:solidFill>
            <a:srgbClr val="1B2735"/>
          </a:solidFill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38200" y="1866900"/>
            <a:ext cx="533400" cy="381000"/>
          </a:xfrm>
          <a:custGeom>
            <a:avLst/>
            <a:gdLst/>
            <a:ahLst/>
            <a:cxnLst/>
            <a:rect l="0" t="0" r="56" b="40"/>
            <a:pathLst>
              <a:path w="56" h="40">
                <a:moveTo>
                  <a:pt x="8" y="19"/>
                </a:moveTo>
                <a:lnTo>
                  <a:pt x="14" y="17"/>
                </a:lnTo>
                <a:lnTo>
                  <a:pt x="16" y="14"/>
                </a:lnTo>
                <a:lnTo>
                  <a:pt x="49" y="6"/>
                </a:lnTo>
                <a:lnTo>
                  <a:pt x="51" y="9"/>
                </a:lnTo>
                <a:lnTo>
                  <a:pt x="56" y="8"/>
                </a:lnTo>
              </a:path>
            </a:pathLst>
          </a:custGeom>
          <a:noFill/>
          <a:ln w="10160" cap="rnd">
            <a:solidFill>
              <a:srgbClr val="333333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38200" y="1657350"/>
            <a:ext cx="533400" cy="533400"/>
          </a:xfrm>
          <a:prstGeom prst="roundRect">
            <a:avLst>
              <a:gd name="adj" fmla="val 14285"/>
            </a:avLst>
          </a:prstGeom>
          <a:noFill/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838200" y="2657475"/>
            <a:ext cx="533400" cy="533400"/>
          </a:xfrm>
          <a:prstGeom prst="roundRect">
            <a:avLst>
              <a:gd name="adj" fmla="val 14285"/>
            </a:avLst>
          </a:prstGeom>
          <a:noFill/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838200" y="3657600"/>
            <a:ext cx="533400" cy="533400"/>
          </a:xfrm>
          <a:prstGeom prst="roundRect">
            <a:avLst>
              <a:gd name="adj" fmla="val 14285"/>
            </a:avLst>
          </a:prstGeom>
          <a:noFill/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838200" y="4657725"/>
            <a:ext cx="533400" cy="533400"/>
          </a:xfrm>
          <a:prstGeom prst="roundRect">
            <a:avLst>
              <a:gd name="adj" fmla="val 14285"/>
            </a:avLst>
          </a:prstGeom>
          <a:noFill/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38200" y="1866900"/>
            <a:ext cx="533400" cy="381000"/>
          </a:xfrm>
          <a:custGeom>
            <a:avLst/>
            <a:gdLst/>
            <a:ahLst/>
            <a:cxnLst/>
            <a:rect l="0" t="0" r="56" b="40"/>
            <a:pathLst>
              <a:path w="56" h="40">
                <a:moveTo>
                  <a:pt x="48" y="7"/>
                </a:moveTo>
                <a:lnTo>
                  <a:pt x="51" y="9"/>
                </a:lnTo>
                <a:lnTo>
                  <a:pt x="15" y="17"/>
                </a:lnTo>
                <a:lnTo>
                  <a:pt x="16" y="14"/>
                </a:lnTo>
                <a:close/>
                <a:moveTo>
                  <a:pt x="48" y="23"/>
                </a:moveTo>
                <a:lnTo>
                  <a:pt x="50" y="21"/>
                </a:lnTo>
                <a:lnTo>
                  <a:pt x="15" y="29"/>
                </a:lnTo>
                <a:lnTo>
                  <a:pt x="16" y="31"/>
                </a:lnTo>
                <a:close/>
              </a:path>
            </a:pathLst>
          </a:custGeom>
          <a:solidFill>
            <a:srgbClr val="808080"/>
          </a:solidFill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562100" y="1695450"/>
            <a:ext cx="209550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30"/>
              </a:lnSpc>
            </a:pPr>
            <a:r>
              <a:rPr sz="128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GPU 服务器集群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62100" y="1962150"/>
            <a:ext cx="2095500" cy="152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990"/>
              </a:lnSpc>
            </a:pPr>
            <a:r>
              <a:rPr sz="819" b="0" i="0" spc="75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GPU CLUSTER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0000" y="1638300"/>
            <a:ext cx="7620000" cy="590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单机 8 卡 NVLink 互联，整集群数千至上万张加速卡；算力以 PFLOPS 计，显存带宽是瓶颈；故障是常态，训练任务需支持断点续训。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62100" y="2695575"/>
            <a:ext cx="209550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30"/>
              </a:lnSpc>
            </a:pPr>
            <a:r>
              <a:rPr sz="128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高速互联网络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62100" y="2962275"/>
            <a:ext cx="2095500" cy="152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990"/>
              </a:lnSpc>
            </a:pPr>
            <a:r>
              <a:rPr sz="819" b="0" i="0" spc="75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INTERCONNECT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0000" y="2638425"/>
            <a:ext cx="7620000" cy="590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节点内 NVLink / NVSwitch，节点间 InfiniBand / RoCE；带宽 400Gbps 起步；拓扑常用 Fat-Tree 胖树或 3D-Torus；通信开销直接决定</a:t>
            </a:r>
          </a:p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并行效率。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62100" y="3695700"/>
            <a:ext cx="209550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30"/>
              </a:lnSpc>
            </a:pPr>
            <a:r>
              <a:rPr sz="128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分布式存储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62100" y="3962400"/>
            <a:ext cx="2095500" cy="152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990"/>
              </a:lnSpc>
            </a:pPr>
            <a:r>
              <a:rPr sz="819" b="0" i="0" spc="75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DISTRIBUTED STORAGE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0" y="3638550"/>
            <a:ext cx="7620000" cy="590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并行文件系统（Lustre / GPFS）或对象存储；需支撑数十 PB 语料与高频 checkpoint 写入；吞吐跟不上 GPU 消费速度，算力就会空转。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62100" y="4695825"/>
            <a:ext cx="209550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30"/>
              </a:lnSpc>
            </a:pPr>
            <a:r>
              <a:rPr sz="128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PyTorch 训练框架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62100" y="4962525"/>
            <a:ext cx="2095500" cy="152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990"/>
              </a:lnSpc>
            </a:pPr>
            <a:r>
              <a:rPr sz="819" b="0" i="0" spc="75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TRAINING FRAMEWORK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0000" y="4638675"/>
            <a:ext cx="7620000" cy="590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事实上的标准；torch.distributed 提供 DDP / FSDP / 张量并行 / 流水并行；混合精度 AMP、梯度检查点、ZeRO 显存优化；上层是 </a:t>
            </a:r>
          </a:p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DeepSpeed / Megatron-LM。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8200" y="1866900"/>
            <a:ext cx="533400" cy="381000"/>
          </a:xfrm>
          <a:custGeom>
            <a:avLst/>
            <a:gdLst/>
            <a:ahLst/>
            <a:cxnLst/>
            <a:rect l="0" t="0" r="56" b="40"/>
            <a:pathLst>
              <a:path w="56" h="40">
                <a:moveTo>
                  <a:pt x="8" y="31"/>
                </a:moveTo>
                <a:lnTo>
                  <a:pt x="14" y="29"/>
                </a:lnTo>
                <a:lnTo>
                  <a:pt x="16" y="31"/>
                </a:lnTo>
                <a:lnTo>
                  <a:pt x="49" y="24"/>
                </a:lnTo>
                <a:lnTo>
                  <a:pt x="51" y="21"/>
                </a:lnTo>
                <a:lnTo>
                  <a:pt x="56" y="20"/>
                </a:lnTo>
              </a:path>
            </a:pathLst>
          </a:custGeom>
          <a:noFill/>
          <a:ln w="10160" cap="rnd">
            <a:solidFill>
              <a:srgbClr val="333333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6041231" y="2307431"/>
            <a:ext cx="109537" cy="233362"/>
          </a:xfrm>
          <a:custGeom>
            <a:avLst/>
            <a:gdLst/>
            <a:ahLst/>
            <a:cxnLst/>
            <a:rect l="0" t="0" r="11" b="24"/>
            <a:pathLst>
              <a:path w="11" h="24" fill="none">
                <a:moveTo>
                  <a:pt x="6" y="2"/>
                </a:moveTo>
                <a:lnTo>
                  <a:pt x="6" y="23"/>
                </a:lnTo>
              </a:path>
            </a:pathLst>
          </a:custGeom>
          <a:noFill/>
          <a:ln w="13970" cap="flat">
            <a:solidFill>
              <a:srgbClr val="38BDF8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6041231" y="3307556"/>
            <a:ext cx="109537" cy="233362"/>
          </a:xfrm>
          <a:custGeom>
            <a:avLst/>
            <a:gdLst/>
            <a:ahLst/>
            <a:cxnLst/>
            <a:rect l="0" t="0" r="11" b="24"/>
            <a:pathLst>
              <a:path w="11" h="24" fill="none">
                <a:moveTo>
                  <a:pt x="6" y="2"/>
                </a:moveTo>
                <a:lnTo>
                  <a:pt x="6" y="23"/>
                </a:lnTo>
              </a:path>
            </a:pathLst>
          </a:custGeom>
          <a:noFill/>
          <a:ln w="13970" cap="flat">
            <a:solidFill>
              <a:srgbClr val="38BDF8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6041231" y="4307681"/>
            <a:ext cx="109537" cy="233362"/>
          </a:xfrm>
          <a:custGeom>
            <a:avLst/>
            <a:gdLst/>
            <a:ahLst/>
            <a:cxnLst/>
            <a:rect l="0" t="0" r="11" b="24"/>
            <a:pathLst>
              <a:path w="11" h="24" fill="none">
                <a:moveTo>
                  <a:pt x="6" y="2"/>
                </a:moveTo>
                <a:lnTo>
                  <a:pt x="6" y="23"/>
                </a:lnTo>
              </a:path>
            </a:pathLst>
          </a:custGeom>
          <a:noFill/>
          <a:ln w="13970" cap="flat">
            <a:solidFill>
              <a:srgbClr val="38BDF8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838200" y="1866900"/>
            <a:ext cx="533400" cy="381000"/>
          </a:xfrm>
          <a:custGeom>
            <a:avLst/>
            <a:gdLst/>
            <a:ahLst/>
            <a:cxnLst/>
            <a:rect l="0" t="0" r="56" b="40"/>
            <a:pathLst>
              <a:path w="56" h="40">
                <a:moveTo>
                  <a:pt x="52" y="17"/>
                </a:moveTo>
                <a:lnTo>
                  <a:pt x="52" y="16"/>
                </a:lnTo>
                <a:lnTo>
                  <a:pt x="52" y="16"/>
                </a:lnTo>
                <a:cubicBezTo>
                  <a:pt x="52" y="16"/>
                  <a:pt x="52" y="16"/>
                  <a:pt x="52" y="16"/>
                </a:cubicBezTo>
                <a:cubicBezTo>
                  <a:pt x="52" y="17"/>
                  <a:pt x="52" y="17"/>
                  <a:pt x="52" y="17"/>
                </a:cubicBezTo>
                <a:close/>
                <a:moveTo>
                  <a:pt x="52" y="17"/>
                </a:moveTo>
                <a:lnTo>
                  <a:pt x="52" y="17"/>
                </a:lnTo>
                <a:lnTo>
                  <a:pt x="52" y="17"/>
                </a:lnTo>
                <a:lnTo>
                  <a:pt x="52" y="17"/>
                </a:lnTo>
                <a:lnTo>
                  <a:pt x="52" y="17"/>
                </a:lnTo>
                <a:cubicBezTo>
                  <a:pt x="52" y="17"/>
                  <a:pt x="52" y="17"/>
                  <a:pt x="52" y="16"/>
                </a:cubicBezTo>
                <a:cubicBezTo>
                  <a:pt x="52" y="16"/>
                  <a:pt x="52" y="16"/>
                  <a:pt x="52" y="16"/>
                </a:cubicBezTo>
                <a:lnTo>
                  <a:pt x="52" y="16"/>
                </a:lnTo>
                <a:lnTo>
                  <a:pt x="52" y="17"/>
                </a:lnTo>
                <a:lnTo>
                  <a:pt x="52" y="17"/>
                </a:lnTo>
                <a:lnTo>
                  <a:pt x="52" y="17"/>
                </a:lnTo>
                <a:close/>
                <a:moveTo>
                  <a:pt x="53" y="17"/>
                </a:move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2" y="16"/>
                  <a:pt x="52" y="17"/>
                </a:cubicBezTo>
                <a:cubicBezTo>
                  <a:pt x="52" y="17"/>
                  <a:pt x="52" y="17"/>
                  <a:pt x="52" y="17"/>
                </a:cubicBezTo>
                <a:cubicBezTo>
                  <a:pt x="52" y="17"/>
                  <a:pt x="53" y="17"/>
                  <a:pt x="53" y="17"/>
                </a:cubicBezTo>
                <a:moveTo>
                  <a:pt x="52" y="17"/>
                </a:moveTo>
                <a:cubicBezTo>
                  <a:pt x="52" y="17"/>
                  <a:pt x="52" y="17"/>
                  <a:pt x="52" y="17"/>
                </a:cubicBezTo>
                <a:cubicBezTo>
                  <a:pt x="52" y="17"/>
                  <a:pt x="52" y="17"/>
                  <a:pt x="52" y="17"/>
                </a:cubicBezTo>
                <a:cubicBezTo>
                  <a:pt x="52" y="17"/>
                  <a:pt x="52" y="16"/>
                  <a:pt x="52" y="16"/>
                </a:cubicBezTo>
                <a:cubicBezTo>
                  <a:pt x="52" y="16"/>
                  <a:pt x="52" y="16"/>
                  <a:pt x="52" y="17"/>
                </a:cubicBezTo>
                <a:moveTo>
                  <a:pt x="36" y="15"/>
                </a:moveTo>
                <a:lnTo>
                  <a:pt x="36" y="20"/>
                </a:lnTo>
                <a:lnTo>
                  <a:pt x="38" y="20"/>
                </a:lnTo>
                <a:lnTo>
                  <a:pt x="38" y="15"/>
                </a:lnTo>
                <a:close/>
                <a:moveTo>
                  <a:pt x="26" y="18"/>
                </a:moveTo>
                <a:lnTo>
                  <a:pt x="26" y="23"/>
                </a:lnTo>
                <a:lnTo>
                  <a:pt x="27" y="23"/>
                </a:lnTo>
                <a:lnTo>
                  <a:pt x="27" y="19"/>
                </a:lnTo>
                <a:lnTo>
                  <a:pt x="28" y="18"/>
                </a:lnTo>
                <a:cubicBezTo>
                  <a:pt x="28" y="18"/>
                  <a:pt x="29" y="18"/>
                  <a:pt x="29" y="19"/>
                </a:cubicBezTo>
                <a:cubicBezTo>
                  <a:pt x="29" y="19"/>
                  <a:pt x="29" y="19"/>
                  <a:pt x="29" y="20"/>
                </a:cubicBezTo>
                <a:lnTo>
                  <a:pt x="29" y="22"/>
                </a:lnTo>
                <a:lnTo>
                  <a:pt x="30" y="22"/>
                </a:lnTo>
                <a:lnTo>
                  <a:pt x="30" y="19"/>
                </a:lnTo>
                <a:cubicBezTo>
                  <a:pt x="30" y="17"/>
                  <a:pt x="29" y="17"/>
                  <a:pt x="28" y="17"/>
                </a:cubicBezTo>
                <a:close/>
                <a:moveTo>
                  <a:pt x="39" y="15"/>
                </a:moveTo>
                <a:lnTo>
                  <a:pt x="39" y="20"/>
                </a:lnTo>
                <a:lnTo>
                  <a:pt x="41" y="19"/>
                </a:lnTo>
                <a:cubicBezTo>
                  <a:pt x="42" y="19"/>
                  <a:pt x="42" y="19"/>
                  <a:pt x="43" y="18"/>
                </a:cubicBezTo>
                <a:cubicBezTo>
                  <a:pt x="43" y="18"/>
                  <a:pt x="43" y="17"/>
                  <a:pt x="43" y="16"/>
                </a:cubicBezTo>
                <a:cubicBezTo>
                  <a:pt x="43" y="16"/>
                  <a:pt x="43" y="15"/>
                  <a:pt x="43" y="15"/>
                </a:cubicBezTo>
                <a:cubicBezTo>
                  <a:pt x="42" y="14"/>
                  <a:pt x="42" y="14"/>
                  <a:pt x="40" y="15"/>
                </a:cubicBezTo>
                <a:close/>
                <a:moveTo>
                  <a:pt x="40" y="16"/>
                </a:moveTo>
                <a:lnTo>
                  <a:pt x="40" y="16"/>
                </a:lnTo>
                <a:cubicBezTo>
                  <a:pt x="41" y="15"/>
                  <a:pt x="42" y="16"/>
                  <a:pt x="42" y="17"/>
                </a:cubicBezTo>
                <a:cubicBezTo>
                  <a:pt x="42" y="18"/>
                  <a:pt x="41" y="18"/>
                  <a:pt x="40" y="18"/>
                </a:cubicBezTo>
                <a:lnTo>
                  <a:pt x="40" y="19"/>
                </a:lnTo>
                <a:close/>
                <a:moveTo>
                  <a:pt x="34" y="16"/>
                </a:moveTo>
                <a:lnTo>
                  <a:pt x="33" y="20"/>
                </a:lnTo>
                <a:lnTo>
                  <a:pt x="32" y="16"/>
                </a:lnTo>
                <a:lnTo>
                  <a:pt x="31" y="17"/>
                </a:lnTo>
                <a:lnTo>
                  <a:pt x="32" y="21"/>
                </a:lnTo>
                <a:lnTo>
                  <a:pt x="34" y="21"/>
                </a:lnTo>
                <a:lnTo>
                  <a:pt x="36" y="16"/>
                </a:lnTo>
                <a:close/>
                <a:moveTo>
                  <a:pt x="44" y="19"/>
                </a:moveTo>
                <a:lnTo>
                  <a:pt x="45" y="18"/>
                </a:lnTo>
                <a:lnTo>
                  <a:pt x="45" y="13"/>
                </a:lnTo>
                <a:lnTo>
                  <a:pt x="44" y="14"/>
                </a:lnTo>
                <a:close/>
                <a:moveTo>
                  <a:pt x="48" y="13"/>
                </a:moveTo>
                <a:lnTo>
                  <a:pt x="46" y="18"/>
                </a:lnTo>
                <a:lnTo>
                  <a:pt x="47" y="18"/>
                </a:lnTo>
                <a:lnTo>
                  <a:pt x="47" y="17"/>
                </a:lnTo>
                <a:lnTo>
                  <a:pt x="50" y="17"/>
                </a:lnTo>
                <a:lnTo>
                  <a:pt x="50" y="17"/>
                </a:lnTo>
                <a:lnTo>
                  <a:pt x="51" y="17"/>
                </a:lnTo>
                <a:lnTo>
                  <a:pt x="50" y="13"/>
                </a:lnTo>
                <a:close/>
                <a:moveTo>
                  <a:pt x="49" y="14"/>
                </a:moveTo>
                <a:lnTo>
                  <a:pt x="49" y="16"/>
                </a:lnTo>
                <a:lnTo>
                  <a:pt x="48" y="16"/>
                </a:lnTo>
                <a:close/>
              </a:path>
            </a:pathLst>
          </a:custGeom>
          <a:solidFill>
            <a:srgbClr val="666666"/>
          </a:solidFill>
        </p:spPr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609600" y="5619750"/>
            <a:ext cx="1581150" cy="419100"/>
          </a:xfrm>
          <a:prstGeom prst="roundRect">
            <a:avLst>
              <a:gd name="adj" fmla="val 13636"/>
            </a:avLst>
          </a:prstGeom>
          <a:noFill/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2486025" y="5619750"/>
            <a:ext cx="1581150" cy="419100"/>
          </a:xfrm>
          <a:prstGeom prst="roundRect">
            <a:avLst>
              <a:gd name="adj" fmla="val 13636"/>
            </a:avLst>
          </a:prstGeom>
          <a:noFill/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4362450" y="5619750"/>
            <a:ext cx="1581150" cy="419100"/>
          </a:xfrm>
          <a:prstGeom prst="roundRect">
            <a:avLst>
              <a:gd name="adj" fmla="val 13636"/>
            </a:avLst>
          </a:prstGeom>
          <a:noFill/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6248400" y="5619750"/>
            <a:ext cx="1581150" cy="419100"/>
          </a:xfrm>
          <a:prstGeom prst="roundRect">
            <a:avLst>
              <a:gd name="adj" fmla="val 13636"/>
            </a:avLst>
          </a:prstGeom>
          <a:noFill/>
          <a:ln w="10160" cap="flat">
            <a:solidFill>
              <a:srgbClr val="38BDF8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8124825" y="5619750"/>
            <a:ext cx="1581150" cy="419100"/>
          </a:xfrm>
          <a:prstGeom prst="roundRect">
            <a:avLst>
              <a:gd name="adj" fmla="val 13636"/>
            </a:avLst>
          </a:prstGeom>
          <a:noFill/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10001250" y="5619750"/>
            <a:ext cx="1581150" cy="419100"/>
          </a:xfrm>
          <a:prstGeom prst="roundRect">
            <a:avLst>
              <a:gd name="adj" fmla="val 13636"/>
            </a:avLst>
          </a:prstGeom>
          <a:noFill/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838200" y="1866900"/>
            <a:ext cx="533400" cy="381000"/>
          </a:xfrm>
          <a:custGeom>
            <a:avLst/>
            <a:gdLst/>
            <a:ahLst/>
            <a:cxnLst/>
            <a:rect l="0" t="0" r="56" b="40"/>
            <a:pathLst>
              <a:path w="56" h="40">
                <a:moveTo>
                  <a:pt x="17" y="21"/>
                </a:moveTo>
                <a:lnTo>
                  <a:pt x="17" y="20"/>
                </a:lnTo>
                <a:cubicBezTo>
                  <a:pt x="17" y="20"/>
                  <a:pt x="17" y="20"/>
                  <a:pt x="17" y="20"/>
                </a:cubicBezTo>
                <a:cubicBezTo>
                  <a:pt x="19" y="19"/>
                  <a:pt x="20" y="21"/>
                  <a:pt x="20" y="21"/>
                </a:cubicBezTo>
                <a:cubicBezTo>
                  <a:pt x="20" y="21"/>
                  <a:pt x="19" y="23"/>
                  <a:pt x="17" y="23"/>
                </a:cubicBezTo>
                <a:cubicBezTo>
                  <a:pt x="17" y="24"/>
                  <a:pt x="17" y="24"/>
                  <a:pt x="17" y="24"/>
                </a:cubicBezTo>
                <a:lnTo>
                  <a:pt x="17" y="21"/>
                </a:lnTo>
                <a:cubicBezTo>
                  <a:pt x="18" y="21"/>
                  <a:pt x="18" y="22"/>
                  <a:pt x="18" y="22"/>
                </a:cubicBezTo>
                <a:lnTo>
                  <a:pt x="19" y="21"/>
                </a:lnTo>
                <a:cubicBezTo>
                  <a:pt x="19" y="21"/>
                  <a:pt x="18" y="20"/>
                  <a:pt x="17" y="21"/>
                </a:cubicBezTo>
                <a:cubicBezTo>
                  <a:pt x="17" y="21"/>
                  <a:pt x="17" y="21"/>
                  <a:pt x="17" y="21"/>
                </a:cubicBezTo>
                <a:moveTo>
                  <a:pt x="17" y="18"/>
                </a:moveTo>
                <a:lnTo>
                  <a:pt x="17" y="19"/>
                </a:lnTo>
                <a:cubicBezTo>
                  <a:pt x="17" y="19"/>
                  <a:pt x="17" y="19"/>
                  <a:pt x="17" y="19"/>
                </a:cubicBezTo>
                <a:cubicBezTo>
                  <a:pt x="20" y="19"/>
                  <a:pt x="21" y="21"/>
                  <a:pt x="21" y="21"/>
                </a:cubicBezTo>
                <a:cubicBezTo>
                  <a:pt x="21" y="21"/>
                  <a:pt x="19" y="24"/>
                  <a:pt x="17" y="24"/>
                </a:cubicBezTo>
                <a:cubicBezTo>
                  <a:pt x="17" y="24"/>
                  <a:pt x="17" y="24"/>
                  <a:pt x="17" y="24"/>
                </a:cubicBezTo>
                <a:lnTo>
                  <a:pt x="17" y="25"/>
                </a:lnTo>
                <a:cubicBezTo>
                  <a:pt x="17" y="25"/>
                  <a:pt x="17" y="25"/>
                  <a:pt x="17" y="25"/>
                </a:cubicBezTo>
                <a:cubicBezTo>
                  <a:pt x="19" y="24"/>
                  <a:pt x="21" y="23"/>
                  <a:pt x="22" y="21"/>
                </a:cubicBezTo>
                <a:cubicBezTo>
                  <a:pt x="22" y="22"/>
                  <a:pt x="23" y="22"/>
                  <a:pt x="23" y="22"/>
                </a:cubicBezTo>
                <a:cubicBezTo>
                  <a:pt x="22" y="23"/>
                  <a:pt x="19" y="25"/>
                  <a:pt x="17" y="25"/>
                </a:cubicBezTo>
                <a:cubicBezTo>
                  <a:pt x="17" y="25"/>
                  <a:pt x="17" y="25"/>
                  <a:pt x="17" y="25"/>
                </a:cubicBezTo>
                <a:lnTo>
                  <a:pt x="17" y="26"/>
                </a:lnTo>
                <a:lnTo>
                  <a:pt x="24" y="25"/>
                </a:lnTo>
                <a:lnTo>
                  <a:pt x="24" y="17"/>
                </a:lnTo>
                <a:close/>
                <a:moveTo>
                  <a:pt x="17" y="24"/>
                </a:moveTo>
                <a:lnTo>
                  <a:pt x="17" y="24"/>
                </a:lnTo>
                <a:cubicBezTo>
                  <a:pt x="15" y="24"/>
                  <a:pt x="15" y="22"/>
                  <a:pt x="15" y="22"/>
                </a:cubicBezTo>
                <a:cubicBezTo>
                  <a:pt x="15" y="22"/>
                  <a:pt x="15" y="21"/>
                  <a:pt x="17" y="21"/>
                </a:cubicBezTo>
                <a:lnTo>
                  <a:pt x="17" y="21"/>
                </a:lnTo>
                <a:cubicBezTo>
                  <a:pt x="16" y="21"/>
                  <a:pt x="16" y="22"/>
                  <a:pt x="16" y="22"/>
                </a:cubicBezTo>
                <a:cubicBezTo>
                  <a:pt x="16" y="22"/>
                  <a:pt x="16" y="23"/>
                  <a:pt x="17" y="24"/>
                </a:cubicBezTo>
                <a:moveTo>
                  <a:pt x="14" y="22"/>
                </a:moveTo>
                <a:cubicBezTo>
                  <a:pt x="14" y="22"/>
                  <a:pt x="15" y="21"/>
                  <a:pt x="17" y="20"/>
                </a:cubicBezTo>
                <a:lnTo>
                  <a:pt x="17" y="19"/>
                </a:lnTo>
                <a:cubicBezTo>
                  <a:pt x="15" y="20"/>
                  <a:pt x="13" y="23"/>
                  <a:pt x="13" y="23"/>
                </a:cubicBezTo>
                <a:cubicBezTo>
                  <a:pt x="13" y="23"/>
                  <a:pt x="14" y="26"/>
                  <a:pt x="17" y="25"/>
                </a:cubicBezTo>
                <a:lnTo>
                  <a:pt x="17" y="25"/>
                </a:lnTo>
                <a:cubicBezTo>
                  <a:pt x="15" y="25"/>
                  <a:pt x="14" y="22"/>
                  <a:pt x="14" y="22"/>
                </a:cubicBezTo>
              </a:path>
            </a:pathLst>
          </a:custGeom>
          <a:solidFill>
            <a:srgbClr val="77B900"/>
          </a:solidFill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09600" y="5391150"/>
            <a:ext cx="41910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 spc="75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训练循环 · TRAINING LOOP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9600" y="5619750"/>
            <a:ext cx="158115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080"/>
              </a:lnSpc>
            </a:pPr>
            <a:r>
              <a:rPr sz="90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数据加载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86025" y="5619750"/>
            <a:ext cx="158115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080"/>
              </a:lnSpc>
            </a:pPr>
            <a:r>
              <a:rPr sz="90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前向计算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62450" y="5619750"/>
            <a:ext cx="158115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080"/>
              </a:lnSpc>
            </a:pPr>
            <a:r>
              <a:rPr sz="90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反向传播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48400" y="5619750"/>
            <a:ext cx="158115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080"/>
              </a:lnSpc>
            </a:pPr>
            <a:r>
              <a:rPr sz="900" b="0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梯度同步 AllReduce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24825" y="5619750"/>
            <a:ext cx="158115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080"/>
              </a:lnSpc>
            </a:pPr>
            <a:r>
              <a:rPr sz="90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参数更新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01250" y="5619750"/>
            <a:ext cx="158115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080"/>
              </a:lnSpc>
            </a:pPr>
            <a:r>
              <a:rPr sz="90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检查点落盘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74081" y="5774531"/>
            <a:ext cx="328612" cy="109537"/>
          </a:xfrm>
          <a:custGeom>
            <a:avLst/>
            <a:gdLst/>
            <a:ahLst/>
            <a:cxnLst/>
            <a:rect l="0" t="0" r="34" b="11"/>
            <a:pathLst>
              <a:path w="34" h="11" fill="none">
                <a:moveTo>
                  <a:pt x="2" y="6"/>
                </a:moveTo>
                <a:lnTo>
                  <a:pt x="33" y="6"/>
                </a:lnTo>
              </a:path>
            </a:pathLst>
          </a:custGeom>
          <a:noFill/>
          <a:ln w="13970" cap="flat">
            <a:solidFill>
              <a:srgbClr val="243040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4050506" y="5774531"/>
            <a:ext cx="328612" cy="109537"/>
          </a:xfrm>
          <a:custGeom>
            <a:avLst/>
            <a:gdLst/>
            <a:ahLst/>
            <a:cxnLst/>
            <a:rect l="0" t="0" r="34" b="11"/>
            <a:pathLst>
              <a:path w="34" h="11" fill="none">
                <a:moveTo>
                  <a:pt x="2" y="6"/>
                </a:moveTo>
                <a:lnTo>
                  <a:pt x="33" y="6"/>
                </a:lnTo>
              </a:path>
            </a:pathLst>
          </a:custGeom>
          <a:noFill/>
          <a:ln w="13970" cap="flat">
            <a:solidFill>
              <a:srgbClr val="243040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5926931" y="5774531"/>
            <a:ext cx="338137" cy="109537"/>
          </a:xfrm>
          <a:custGeom>
            <a:avLst/>
            <a:gdLst/>
            <a:ahLst/>
            <a:cxnLst/>
            <a:rect l="0" t="0" r="35" b="11"/>
            <a:pathLst>
              <a:path w="35" h="11" fill="none">
                <a:moveTo>
                  <a:pt x="2" y="6"/>
                </a:moveTo>
                <a:lnTo>
                  <a:pt x="34" y="6"/>
                </a:lnTo>
              </a:path>
            </a:pathLst>
          </a:custGeom>
          <a:noFill/>
          <a:ln w="13970" cap="flat">
            <a:solidFill>
              <a:srgbClr val="38BDF8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7812881" y="5774531"/>
            <a:ext cx="328612" cy="109537"/>
          </a:xfrm>
          <a:custGeom>
            <a:avLst/>
            <a:gdLst/>
            <a:ahLst/>
            <a:cxnLst/>
            <a:rect l="0" t="0" r="34" b="11"/>
            <a:pathLst>
              <a:path w="34" h="11" fill="none">
                <a:moveTo>
                  <a:pt x="2" y="6"/>
                </a:moveTo>
                <a:lnTo>
                  <a:pt x="33" y="6"/>
                </a:lnTo>
              </a:path>
            </a:pathLst>
          </a:custGeom>
          <a:noFill/>
          <a:ln w="13970" cap="flat">
            <a:solidFill>
              <a:srgbClr val="38BDF8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9689306" y="5774531"/>
            <a:ext cx="328612" cy="109537"/>
          </a:xfrm>
          <a:custGeom>
            <a:avLst/>
            <a:gdLst/>
            <a:ahLst/>
            <a:cxnLst/>
            <a:rect l="0" t="0" r="34" b="11"/>
            <a:pathLst>
              <a:path w="34" h="11" fill="none">
                <a:moveTo>
                  <a:pt x="2" y="6"/>
                </a:moveTo>
                <a:lnTo>
                  <a:pt x="33" y="6"/>
                </a:lnTo>
              </a:path>
            </a:pathLst>
          </a:custGeom>
          <a:noFill/>
          <a:ln w="13970" cap="flat">
            <a:solidFill>
              <a:srgbClr val="243040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09600" y="6115050"/>
            <a:ext cx="9334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瓶颈提示：通信与 I/O 是主要等待来源——并行效率取决于网络带宽与存储吞吐，而非单纯堆卡。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8200" y="1866900"/>
            <a:ext cx="533400" cy="381000"/>
          </a:xfrm>
          <a:custGeom>
            <a:avLst/>
            <a:gdLst/>
            <a:ahLst/>
            <a:cxnLst/>
            <a:rect l="0" t="0" r="56" b="40"/>
            <a:pathLst>
              <a:path w="56" h="40">
                <a:moveTo>
                  <a:pt x="11" y="34"/>
                </a:moveTo>
                <a:cubicBezTo>
                  <a:pt x="11" y="34"/>
                  <a:pt x="11" y="34"/>
                  <a:pt x="11" y="35"/>
                </a:cubicBezTo>
                <a:cubicBezTo>
                  <a:pt x="11" y="35"/>
                  <a:pt x="10" y="35"/>
                  <a:pt x="10" y="35"/>
                </a:cubicBezTo>
                <a:cubicBezTo>
                  <a:pt x="10" y="35"/>
                  <a:pt x="10" y="34"/>
                  <a:pt x="10" y="34"/>
                </a:cubicBezTo>
                <a:cubicBezTo>
                  <a:pt x="10" y="34"/>
                  <a:pt x="11" y="34"/>
                  <a:pt x="11" y="34"/>
                </a:cubicBezTo>
                <a:close/>
                <a:moveTo>
                  <a:pt x="22" y="31"/>
                </a:moveTo>
                <a:cubicBezTo>
                  <a:pt x="22" y="31"/>
                  <a:pt x="22" y="32"/>
                  <a:pt x="22" y="32"/>
                </a:cubicBezTo>
                <a:cubicBezTo>
                  <a:pt x="21" y="32"/>
                  <a:pt x="21" y="32"/>
                  <a:pt x="21" y="32"/>
                </a:cubicBezTo>
                <a:cubicBezTo>
                  <a:pt x="20" y="32"/>
                  <a:pt x="21" y="32"/>
                  <a:pt x="21" y="31"/>
                </a:cubicBezTo>
                <a:cubicBezTo>
                  <a:pt x="21" y="31"/>
                  <a:pt x="21" y="31"/>
                  <a:pt x="22" y="31"/>
                </a:cubicBezTo>
                <a:close/>
                <a:moveTo>
                  <a:pt x="32" y="29"/>
                </a:moveTo>
                <a:cubicBezTo>
                  <a:pt x="33" y="29"/>
                  <a:pt x="33" y="29"/>
                  <a:pt x="32" y="30"/>
                </a:cubicBezTo>
                <a:cubicBezTo>
                  <a:pt x="32" y="30"/>
                  <a:pt x="32" y="30"/>
                  <a:pt x="31" y="30"/>
                </a:cubicBezTo>
                <a:cubicBezTo>
                  <a:pt x="31" y="30"/>
                  <a:pt x="31" y="29"/>
                  <a:pt x="31" y="29"/>
                </a:cubicBezTo>
                <a:cubicBezTo>
                  <a:pt x="32" y="29"/>
                  <a:pt x="32" y="29"/>
                  <a:pt x="32" y="29"/>
                </a:cubicBezTo>
                <a:close/>
                <a:moveTo>
                  <a:pt x="43" y="26"/>
                </a:moveTo>
                <a:cubicBezTo>
                  <a:pt x="43" y="27"/>
                  <a:pt x="43" y="27"/>
                  <a:pt x="43" y="27"/>
                </a:cubicBezTo>
                <a:cubicBezTo>
                  <a:pt x="43" y="28"/>
                  <a:pt x="42" y="28"/>
                  <a:pt x="42" y="27"/>
                </a:cubicBezTo>
                <a:cubicBezTo>
                  <a:pt x="42" y="27"/>
                  <a:pt x="42" y="27"/>
                  <a:pt x="42" y="26"/>
                </a:cubicBezTo>
                <a:cubicBezTo>
                  <a:pt x="42" y="26"/>
                  <a:pt x="43" y="26"/>
                  <a:pt x="43" y="26"/>
                </a:cubicBezTo>
                <a:close/>
                <a:moveTo>
                  <a:pt x="54" y="24"/>
                </a:moveTo>
                <a:cubicBezTo>
                  <a:pt x="54" y="24"/>
                  <a:pt x="54" y="25"/>
                  <a:pt x="54" y="25"/>
                </a:cubicBezTo>
                <a:cubicBezTo>
                  <a:pt x="54" y="25"/>
                  <a:pt x="53" y="25"/>
                  <a:pt x="53" y="25"/>
                </a:cubicBezTo>
                <a:cubicBezTo>
                  <a:pt x="53" y="25"/>
                  <a:pt x="53" y="24"/>
                  <a:pt x="53" y="24"/>
                </a:cubicBezTo>
                <a:cubicBezTo>
                  <a:pt x="53" y="24"/>
                  <a:pt x="54" y="24"/>
                  <a:pt x="54" y="24"/>
                </a:cubicBezTo>
                <a:close/>
                <a:moveTo>
                  <a:pt x="11" y="13"/>
                </a:moveTo>
                <a:cubicBezTo>
                  <a:pt x="11" y="13"/>
                  <a:pt x="11" y="13"/>
                  <a:pt x="11" y="14"/>
                </a:cubicBezTo>
                <a:cubicBezTo>
                  <a:pt x="11" y="14"/>
                  <a:pt x="10" y="14"/>
                  <a:pt x="10" y="14"/>
                </a:cubicBezTo>
                <a:cubicBezTo>
                  <a:pt x="10" y="14"/>
                  <a:pt x="10" y="13"/>
                  <a:pt x="10" y="13"/>
                </a:cubicBezTo>
                <a:cubicBezTo>
                  <a:pt x="10" y="13"/>
                  <a:pt x="11" y="13"/>
                  <a:pt x="11" y="13"/>
                </a:cubicBezTo>
                <a:close/>
                <a:moveTo>
                  <a:pt x="22" y="10"/>
                </a:moveTo>
                <a:cubicBezTo>
                  <a:pt x="22" y="11"/>
                  <a:pt x="22" y="11"/>
                  <a:pt x="22" y="11"/>
                </a:cubicBezTo>
                <a:cubicBezTo>
                  <a:pt x="21" y="11"/>
                  <a:pt x="21" y="12"/>
                  <a:pt x="21" y="11"/>
                </a:cubicBezTo>
                <a:cubicBezTo>
                  <a:pt x="20" y="11"/>
                  <a:pt x="21" y="11"/>
                  <a:pt x="21" y="10"/>
                </a:cubicBezTo>
                <a:cubicBezTo>
                  <a:pt x="21" y="10"/>
                  <a:pt x="21" y="10"/>
                  <a:pt x="22" y="10"/>
                </a:cubicBezTo>
                <a:close/>
                <a:moveTo>
                  <a:pt x="32" y="8"/>
                </a:moveTo>
                <a:cubicBezTo>
                  <a:pt x="33" y="8"/>
                  <a:pt x="33" y="9"/>
                  <a:pt x="32" y="9"/>
                </a:cubicBezTo>
                <a:cubicBezTo>
                  <a:pt x="32" y="9"/>
                  <a:pt x="32" y="9"/>
                  <a:pt x="31" y="9"/>
                </a:cubicBezTo>
                <a:cubicBezTo>
                  <a:pt x="31" y="9"/>
                  <a:pt x="31" y="8"/>
                  <a:pt x="31" y="8"/>
                </a:cubicBezTo>
                <a:cubicBezTo>
                  <a:pt x="32" y="8"/>
                  <a:pt x="32" y="8"/>
                  <a:pt x="32" y="8"/>
                </a:cubicBezTo>
                <a:close/>
                <a:moveTo>
                  <a:pt x="43" y="5"/>
                </a:moveTo>
                <a:cubicBezTo>
                  <a:pt x="43" y="6"/>
                  <a:pt x="43" y="6"/>
                  <a:pt x="43" y="6"/>
                </a:cubicBezTo>
                <a:cubicBezTo>
                  <a:pt x="43" y="7"/>
                  <a:pt x="42" y="7"/>
                  <a:pt x="42" y="6"/>
                </a:cubicBezTo>
                <a:cubicBezTo>
                  <a:pt x="42" y="6"/>
                  <a:pt x="42" y="6"/>
                  <a:pt x="42" y="6"/>
                </a:cubicBezTo>
                <a:cubicBezTo>
                  <a:pt x="42" y="5"/>
                  <a:pt x="43" y="5"/>
                  <a:pt x="43" y="5"/>
                </a:cubicBezTo>
                <a:close/>
                <a:moveTo>
                  <a:pt x="54" y="3"/>
                </a:moveTo>
                <a:cubicBezTo>
                  <a:pt x="54" y="3"/>
                  <a:pt x="54" y="4"/>
                  <a:pt x="54" y="4"/>
                </a:cubicBezTo>
                <a:cubicBezTo>
                  <a:pt x="54" y="4"/>
                  <a:pt x="53" y="4"/>
                  <a:pt x="53" y="4"/>
                </a:cubicBezTo>
                <a:cubicBezTo>
                  <a:pt x="53" y="4"/>
                  <a:pt x="53" y="3"/>
                  <a:pt x="53" y="3"/>
                </a:cubicBezTo>
                <a:cubicBezTo>
                  <a:pt x="53" y="3"/>
                  <a:pt x="54" y="3"/>
                  <a:pt x="54" y="3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838200" y="2743200"/>
            <a:ext cx="533400" cy="152400"/>
          </a:xfrm>
          <a:custGeom>
            <a:avLst/>
            <a:gdLst/>
            <a:ahLst/>
            <a:cxnLst/>
            <a:rect l="0" t="0" r="56" b="16"/>
            <a:pathLst>
              <a:path w="56" h="16">
                <a:moveTo>
                  <a:pt x="7" y="0"/>
                </a:moveTo>
                <a:lnTo>
                  <a:pt x="49" y="0"/>
                </a:lnTo>
                <a:cubicBezTo>
                  <a:pt x="53" y="0"/>
                  <a:pt x="56" y="3"/>
                  <a:pt x="56" y="7"/>
                </a:cubicBezTo>
                <a:lnTo>
                  <a:pt x="56" y="7"/>
                </a:lnTo>
                <a:cubicBezTo>
                  <a:pt x="56" y="11"/>
                  <a:pt x="53" y="14"/>
                  <a:pt x="49" y="14"/>
                </a:cubicBezTo>
                <a:lnTo>
                  <a:pt x="7" y="14"/>
                </a:lnTo>
                <a:cubicBezTo>
                  <a:pt x="3" y="14"/>
                  <a:pt x="0" y="11"/>
                  <a:pt x="0" y="7"/>
                </a:cubicBezTo>
                <a:lnTo>
                  <a:pt x="0" y="7"/>
                </a:lnTo>
                <a:cubicBezTo>
                  <a:pt x="0" y="3"/>
                  <a:pt x="3" y="0"/>
                  <a:pt x="7" y="0"/>
                </a:cubicBezTo>
                <a:close/>
                <a:moveTo>
                  <a:pt x="6" y="14"/>
                </a:moveTo>
                <a:lnTo>
                  <a:pt x="50" y="14"/>
                </a:lnTo>
                <a:lnTo>
                  <a:pt x="50" y="16"/>
                </a:lnTo>
                <a:lnTo>
                  <a:pt x="6" y="16"/>
                </a:lnTo>
                <a:close/>
                <a:moveTo>
                  <a:pt x="54" y="7"/>
                </a:moveTo>
                <a:cubicBezTo>
                  <a:pt x="54" y="9"/>
                  <a:pt x="52" y="11"/>
                  <a:pt x="49" y="11"/>
                </a:cubicBezTo>
                <a:cubicBezTo>
                  <a:pt x="47" y="11"/>
                  <a:pt x="45" y="9"/>
                  <a:pt x="45" y="7"/>
                </a:cubicBezTo>
                <a:cubicBezTo>
                  <a:pt x="45" y="4"/>
                  <a:pt x="47" y="2"/>
                  <a:pt x="49" y="2"/>
                </a:cubicBezTo>
                <a:cubicBezTo>
                  <a:pt x="52" y="2"/>
                  <a:pt x="54" y="4"/>
                  <a:pt x="54" y="7"/>
                </a:cubicBezTo>
                <a:close/>
                <a:moveTo>
                  <a:pt x="43" y="3"/>
                </a:moveTo>
                <a:cubicBezTo>
                  <a:pt x="43" y="3"/>
                  <a:pt x="43" y="4"/>
                  <a:pt x="42" y="4"/>
                </a:cubicBezTo>
                <a:cubicBezTo>
                  <a:pt x="41" y="4"/>
                  <a:pt x="41" y="3"/>
                  <a:pt x="41" y="3"/>
                </a:cubicBezTo>
                <a:cubicBezTo>
                  <a:pt x="41" y="2"/>
                  <a:pt x="41" y="2"/>
                  <a:pt x="42" y="2"/>
                </a:cubicBezTo>
                <a:cubicBezTo>
                  <a:pt x="43" y="2"/>
                  <a:pt x="43" y="2"/>
                  <a:pt x="43" y="3"/>
                </a:cubicBezTo>
                <a:close/>
                <a:moveTo>
                  <a:pt x="43" y="11"/>
                </a:moveTo>
                <a:cubicBezTo>
                  <a:pt x="43" y="12"/>
                  <a:pt x="43" y="12"/>
                  <a:pt x="42" y="12"/>
                </a:cubicBezTo>
                <a:cubicBezTo>
                  <a:pt x="41" y="12"/>
                  <a:pt x="41" y="12"/>
                  <a:pt x="41" y="11"/>
                </a:cubicBezTo>
                <a:cubicBezTo>
                  <a:pt x="41" y="10"/>
                  <a:pt x="41" y="10"/>
                  <a:pt x="42" y="10"/>
                </a:cubicBezTo>
                <a:cubicBezTo>
                  <a:pt x="43" y="10"/>
                  <a:pt x="43" y="10"/>
                  <a:pt x="43" y="11"/>
                </a:cubicBezTo>
                <a:close/>
                <a:moveTo>
                  <a:pt x="43" y="7"/>
                </a:moveTo>
                <a:cubicBezTo>
                  <a:pt x="43" y="8"/>
                  <a:pt x="43" y="8"/>
                  <a:pt x="42" y="8"/>
                </a:cubicBezTo>
                <a:cubicBezTo>
                  <a:pt x="41" y="8"/>
                  <a:pt x="41" y="8"/>
                  <a:pt x="41" y="7"/>
                </a:cubicBezTo>
                <a:cubicBezTo>
                  <a:pt x="41" y="6"/>
                  <a:pt x="41" y="6"/>
                  <a:pt x="42" y="6"/>
                </a:cubicBezTo>
                <a:cubicBezTo>
                  <a:pt x="43" y="6"/>
                  <a:pt x="43" y="6"/>
                  <a:pt x="43" y="7"/>
                </a:cubicBezTo>
                <a:close/>
                <a:moveTo>
                  <a:pt x="38" y="9"/>
                </a:moveTo>
                <a:cubicBezTo>
                  <a:pt x="38" y="10"/>
                  <a:pt x="37" y="10"/>
                  <a:pt x="37" y="10"/>
                </a:cubicBezTo>
                <a:cubicBezTo>
                  <a:pt x="36" y="10"/>
                  <a:pt x="36" y="10"/>
                  <a:pt x="36" y="9"/>
                </a:cubicBezTo>
                <a:cubicBezTo>
                  <a:pt x="36" y="9"/>
                  <a:pt x="36" y="8"/>
                  <a:pt x="37" y="8"/>
                </a:cubicBezTo>
                <a:cubicBezTo>
                  <a:pt x="37" y="8"/>
                  <a:pt x="38" y="9"/>
                  <a:pt x="38" y="9"/>
                </a:cubicBezTo>
                <a:close/>
                <a:moveTo>
                  <a:pt x="33" y="9"/>
                </a:moveTo>
                <a:cubicBezTo>
                  <a:pt x="33" y="10"/>
                  <a:pt x="33" y="10"/>
                  <a:pt x="32" y="10"/>
                </a:cubicBezTo>
                <a:cubicBezTo>
                  <a:pt x="31" y="10"/>
                  <a:pt x="31" y="10"/>
                  <a:pt x="31" y="9"/>
                </a:cubicBezTo>
                <a:cubicBezTo>
                  <a:pt x="31" y="9"/>
                  <a:pt x="31" y="8"/>
                  <a:pt x="32" y="8"/>
                </a:cubicBezTo>
                <a:cubicBezTo>
                  <a:pt x="33" y="8"/>
                  <a:pt x="33" y="9"/>
                  <a:pt x="33" y="9"/>
                </a:cubicBezTo>
                <a:close/>
                <a:moveTo>
                  <a:pt x="28" y="9"/>
                </a:moveTo>
                <a:cubicBezTo>
                  <a:pt x="28" y="10"/>
                  <a:pt x="28" y="10"/>
                  <a:pt x="27" y="10"/>
                </a:cubicBezTo>
                <a:cubicBezTo>
                  <a:pt x="27" y="10"/>
                  <a:pt x="26" y="10"/>
                  <a:pt x="26" y="9"/>
                </a:cubicBezTo>
                <a:cubicBezTo>
                  <a:pt x="26" y="9"/>
                  <a:pt x="27" y="8"/>
                  <a:pt x="27" y="8"/>
                </a:cubicBezTo>
                <a:cubicBezTo>
                  <a:pt x="28" y="8"/>
                  <a:pt x="28" y="9"/>
                  <a:pt x="28" y="9"/>
                </a:cubicBezTo>
                <a:close/>
                <a:moveTo>
                  <a:pt x="24" y="9"/>
                </a:moveTo>
                <a:cubicBezTo>
                  <a:pt x="24" y="10"/>
                  <a:pt x="23" y="10"/>
                  <a:pt x="22" y="10"/>
                </a:cubicBezTo>
                <a:cubicBezTo>
                  <a:pt x="22" y="10"/>
                  <a:pt x="21" y="10"/>
                  <a:pt x="21" y="9"/>
                </a:cubicBezTo>
                <a:cubicBezTo>
                  <a:pt x="21" y="9"/>
                  <a:pt x="22" y="8"/>
                  <a:pt x="22" y="8"/>
                </a:cubicBezTo>
                <a:cubicBezTo>
                  <a:pt x="23" y="8"/>
                  <a:pt x="24" y="9"/>
                  <a:pt x="24" y="9"/>
                </a:cubicBezTo>
                <a:close/>
                <a:moveTo>
                  <a:pt x="19" y="9"/>
                </a:moveTo>
                <a:cubicBezTo>
                  <a:pt x="19" y="10"/>
                  <a:pt x="18" y="10"/>
                  <a:pt x="18" y="10"/>
                </a:cubicBezTo>
                <a:cubicBezTo>
                  <a:pt x="17" y="10"/>
                  <a:pt x="17" y="10"/>
                  <a:pt x="17" y="9"/>
                </a:cubicBezTo>
                <a:cubicBezTo>
                  <a:pt x="17" y="9"/>
                  <a:pt x="17" y="8"/>
                  <a:pt x="18" y="8"/>
                </a:cubicBezTo>
                <a:cubicBezTo>
                  <a:pt x="18" y="8"/>
                  <a:pt x="19" y="9"/>
                  <a:pt x="19" y="9"/>
                </a:cubicBezTo>
                <a:close/>
                <a:moveTo>
                  <a:pt x="14" y="9"/>
                </a:moveTo>
                <a:cubicBezTo>
                  <a:pt x="14" y="10"/>
                  <a:pt x="14" y="10"/>
                  <a:pt x="13" y="10"/>
                </a:cubicBezTo>
                <a:cubicBezTo>
                  <a:pt x="12" y="10"/>
                  <a:pt x="12" y="10"/>
                  <a:pt x="12" y="9"/>
                </a:cubicBezTo>
                <a:cubicBezTo>
                  <a:pt x="12" y="9"/>
                  <a:pt x="12" y="8"/>
                  <a:pt x="13" y="8"/>
                </a:cubicBezTo>
                <a:cubicBezTo>
                  <a:pt x="14" y="8"/>
                  <a:pt x="14" y="9"/>
                  <a:pt x="14" y="9"/>
                </a:cubicBezTo>
                <a:close/>
                <a:moveTo>
                  <a:pt x="9" y="9"/>
                </a:moveTo>
                <a:cubicBezTo>
                  <a:pt x="9" y="10"/>
                  <a:pt x="9" y="10"/>
                  <a:pt x="8" y="10"/>
                </a:cubicBezTo>
                <a:cubicBezTo>
                  <a:pt x="8" y="10"/>
                  <a:pt x="7" y="10"/>
                  <a:pt x="7" y="9"/>
                </a:cubicBezTo>
                <a:cubicBezTo>
                  <a:pt x="7" y="9"/>
                  <a:pt x="8" y="8"/>
                  <a:pt x="8" y="8"/>
                </a:cubicBezTo>
                <a:cubicBezTo>
                  <a:pt x="9" y="8"/>
                  <a:pt x="9" y="9"/>
                  <a:pt x="9" y="9"/>
                </a:cubicBezTo>
                <a:close/>
                <a:moveTo>
                  <a:pt x="4" y="9"/>
                </a:moveTo>
                <a:cubicBezTo>
                  <a:pt x="4" y="10"/>
                  <a:pt x="4" y="10"/>
                  <a:pt x="3" y="10"/>
                </a:cubicBezTo>
                <a:cubicBezTo>
                  <a:pt x="3" y="10"/>
                  <a:pt x="2" y="10"/>
                  <a:pt x="2" y="9"/>
                </a:cubicBezTo>
                <a:cubicBezTo>
                  <a:pt x="2" y="9"/>
                  <a:pt x="3" y="8"/>
                  <a:pt x="3" y="8"/>
                </a:cubicBezTo>
                <a:cubicBezTo>
                  <a:pt x="4" y="8"/>
                  <a:pt x="4" y="9"/>
                  <a:pt x="4" y="9"/>
                </a:cubicBezTo>
                <a:close/>
                <a:moveTo>
                  <a:pt x="2" y="4"/>
                </a:moveTo>
                <a:lnTo>
                  <a:pt x="5" y="4"/>
                </a:lnTo>
                <a:lnTo>
                  <a:pt x="5" y="6"/>
                </a:lnTo>
                <a:lnTo>
                  <a:pt x="4" y="6"/>
                </a:lnTo>
                <a:lnTo>
                  <a:pt x="4" y="6"/>
                </a:lnTo>
                <a:lnTo>
                  <a:pt x="3" y="6"/>
                </a:lnTo>
                <a:lnTo>
                  <a:pt x="3" y="6"/>
                </a:lnTo>
                <a:lnTo>
                  <a:pt x="2" y="6"/>
                </a:lnTo>
                <a:close/>
                <a:moveTo>
                  <a:pt x="6" y="4"/>
                </a:moveTo>
                <a:lnTo>
                  <a:pt x="10" y="4"/>
                </a:lnTo>
                <a:lnTo>
                  <a:pt x="10" y="6"/>
                </a:lnTo>
                <a:lnTo>
                  <a:pt x="9" y="6"/>
                </a:lnTo>
                <a:lnTo>
                  <a:pt x="9" y="6"/>
                </a:lnTo>
                <a:lnTo>
                  <a:pt x="8" y="6"/>
                </a:lnTo>
                <a:lnTo>
                  <a:pt x="8" y="6"/>
                </a:lnTo>
                <a:lnTo>
                  <a:pt x="6" y="6"/>
                </a:lnTo>
                <a:close/>
                <a:moveTo>
                  <a:pt x="11" y="4"/>
                </a:moveTo>
                <a:lnTo>
                  <a:pt x="15" y="4"/>
                </a:lnTo>
                <a:lnTo>
                  <a:pt x="15" y="6"/>
                </a:lnTo>
                <a:lnTo>
                  <a:pt x="13" y="6"/>
                </a:lnTo>
                <a:lnTo>
                  <a:pt x="13" y="6"/>
                </a:lnTo>
                <a:lnTo>
                  <a:pt x="12" y="6"/>
                </a:lnTo>
                <a:lnTo>
                  <a:pt x="12" y="6"/>
                </a:lnTo>
                <a:lnTo>
                  <a:pt x="11" y="6"/>
                </a:lnTo>
                <a:close/>
                <a:moveTo>
                  <a:pt x="16" y="4"/>
                </a:moveTo>
                <a:lnTo>
                  <a:pt x="19" y="4"/>
                </a:lnTo>
                <a:lnTo>
                  <a:pt x="19" y="6"/>
                </a:lnTo>
                <a:lnTo>
                  <a:pt x="18" y="6"/>
                </a:lnTo>
                <a:lnTo>
                  <a:pt x="18" y="6"/>
                </a:lnTo>
                <a:lnTo>
                  <a:pt x="17" y="6"/>
                </a:lnTo>
                <a:lnTo>
                  <a:pt x="17" y="6"/>
                </a:lnTo>
                <a:lnTo>
                  <a:pt x="16" y="6"/>
                </a:lnTo>
                <a:close/>
                <a:moveTo>
                  <a:pt x="21" y="4"/>
                </a:moveTo>
                <a:lnTo>
                  <a:pt x="24" y="4"/>
                </a:lnTo>
                <a:lnTo>
                  <a:pt x="24" y="6"/>
                </a:lnTo>
                <a:lnTo>
                  <a:pt x="23" y="6"/>
                </a:lnTo>
                <a:lnTo>
                  <a:pt x="23" y="6"/>
                </a:lnTo>
                <a:lnTo>
                  <a:pt x="22" y="6"/>
                </a:lnTo>
                <a:lnTo>
                  <a:pt x="22" y="6"/>
                </a:lnTo>
                <a:lnTo>
                  <a:pt x="21" y="6"/>
                </a:lnTo>
                <a:close/>
                <a:moveTo>
                  <a:pt x="25" y="4"/>
                </a:moveTo>
                <a:lnTo>
                  <a:pt x="29" y="4"/>
                </a:lnTo>
                <a:lnTo>
                  <a:pt x="29" y="6"/>
                </a:lnTo>
                <a:lnTo>
                  <a:pt x="28" y="6"/>
                </a:lnTo>
                <a:lnTo>
                  <a:pt x="28" y="6"/>
                </a:lnTo>
                <a:lnTo>
                  <a:pt x="27" y="6"/>
                </a:lnTo>
                <a:lnTo>
                  <a:pt x="27" y="6"/>
                </a:lnTo>
                <a:lnTo>
                  <a:pt x="25" y="6"/>
                </a:lnTo>
                <a:close/>
                <a:moveTo>
                  <a:pt x="30" y="4"/>
                </a:moveTo>
                <a:lnTo>
                  <a:pt x="34" y="4"/>
                </a:lnTo>
                <a:lnTo>
                  <a:pt x="34" y="6"/>
                </a:lnTo>
                <a:lnTo>
                  <a:pt x="32" y="6"/>
                </a:lnTo>
                <a:lnTo>
                  <a:pt x="32" y="6"/>
                </a:lnTo>
                <a:lnTo>
                  <a:pt x="31" y="6"/>
                </a:lnTo>
                <a:lnTo>
                  <a:pt x="31" y="6"/>
                </a:lnTo>
                <a:lnTo>
                  <a:pt x="30" y="6"/>
                </a:lnTo>
                <a:close/>
                <a:moveTo>
                  <a:pt x="35" y="4"/>
                </a:moveTo>
                <a:lnTo>
                  <a:pt x="38" y="4"/>
                </a:lnTo>
                <a:lnTo>
                  <a:pt x="38" y="6"/>
                </a:lnTo>
                <a:lnTo>
                  <a:pt x="37" y="6"/>
                </a:lnTo>
                <a:lnTo>
                  <a:pt x="37" y="6"/>
                </a:lnTo>
                <a:lnTo>
                  <a:pt x="36" y="6"/>
                </a:lnTo>
                <a:lnTo>
                  <a:pt x="36" y="6"/>
                </a:lnTo>
                <a:lnTo>
                  <a:pt x="35" y="6"/>
                </a:lnTo>
                <a:close/>
                <a:moveTo>
                  <a:pt x="46" y="5"/>
                </a:moveTo>
                <a:lnTo>
                  <a:pt x="47" y="4"/>
                </a:lnTo>
                <a:lnTo>
                  <a:pt x="48" y="5"/>
                </a:lnTo>
                <a:moveTo>
                  <a:pt x="46" y="9"/>
                </a:moveTo>
                <a:lnTo>
                  <a:pt x="47" y="10"/>
                </a:lnTo>
                <a:lnTo>
                  <a:pt x="48" y="9"/>
                </a:lnTo>
                <a:moveTo>
                  <a:pt x="50" y="5"/>
                </a:moveTo>
                <a:lnTo>
                  <a:pt x="52" y="4"/>
                </a:lnTo>
                <a:lnTo>
                  <a:pt x="53" y="5"/>
                </a:lnTo>
                <a:moveTo>
                  <a:pt x="50" y="9"/>
                </a:moveTo>
                <a:lnTo>
                  <a:pt x="52" y="10"/>
                </a:lnTo>
                <a:lnTo>
                  <a:pt x="53" y="9"/>
                </a:lnTo>
                <a:moveTo>
                  <a:pt x="52" y="10"/>
                </a:moveTo>
                <a:lnTo>
                  <a:pt x="52" y="8"/>
                </a:lnTo>
                <a:lnTo>
                  <a:pt x="47" y="6"/>
                </a:lnTo>
                <a:lnTo>
                  <a:pt x="47" y="4"/>
                </a:lnTo>
                <a:moveTo>
                  <a:pt x="47" y="10"/>
                </a:moveTo>
                <a:lnTo>
                  <a:pt x="47" y="8"/>
                </a:lnTo>
                <a:lnTo>
                  <a:pt x="52" y="6"/>
                </a:lnTo>
                <a:lnTo>
                  <a:pt x="52" y="4"/>
                </a:lnTo>
              </a:path>
            </a:pathLst>
          </a:custGeom>
          <a:noFill/>
          <a:ln w="27940" cap="rnd">
            <a:solidFill>
              <a:srgbClr val="38BDF8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609600" y="647700"/>
            <a:ext cx="6096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训练基础设施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9600" y="1104900"/>
            <a:ext cx="43815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080"/>
              </a:lnSpc>
            </a:pPr>
            <a:r>
              <a:rPr sz="900" b="0" i="0" spc="15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TRAINING INFRASTRUCTURE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9600" y="1333500"/>
            <a:ext cx="533400" cy="28575"/>
          </a:xfrm>
          <a:prstGeom prst="rect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239000" y="952500"/>
            <a:ext cx="43434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5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千亿参数模型的训练，本质是把「算力、网络、存储、框架」四层同时压到极限</a:t>
            </a:r>
          </a:p>
          <a:p>
            <a:pPr algn="r">
              <a:lnSpc>
                <a:spcPts val="15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的系统工程。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8200" y="4857750"/>
            <a:ext cx="533400" cy="133350"/>
          </a:xfrm>
          <a:custGeom>
            <a:avLst/>
            <a:gdLst/>
            <a:ahLst/>
            <a:cxnLst/>
            <a:rect l="0" t="0" r="56" b="14"/>
            <a:pathLst>
              <a:path w="56" h="14">
                <a:moveTo>
                  <a:pt x="8" y="3"/>
                </a:moveTo>
                <a:lnTo>
                  <a:pt x="7" y="4"/>
                </a:lnTo>
                <a:cubicBezTo>
                  <a:pt x="8" y="5"/>
                  <a:pt x="8" y="7"/>
                  <a:pt x="7" y="8"/>
                </a:cubicBezTo>
                <a:cubicBezTo>
                  <a:pt x="6" y="10"/>
                  <a:pt x="4" y="10"/>
                  <a:pt x="2" y="8"/>
                </a:cubicBezTo>
                <a:cubicBezTo>
                  <a:pt x="1" y="7"/>
                  <a:pt x="1" y="5"/>
                  <a:pt x="2" y="4"/>
                </a:cubicBezTo>
                <a:lnTo>
                  <a:pt x="4" y="2"/>
                </a:lnTo>
                <a:lnTo>
                  <a:pt x="5" y="2"/>
                </a:lnTo>
                <a:lnTo>
                  <a:pt x="5" y="0"/>
                </a:lnTo>
                <a:lnTo>
                  <a:pt x="2" y="3"/>
                </a:lnTo>
                <a:cubicBezTo>
                  <a:pt x="0" y="5"/>
                  <a:pt x="0" y="8"/>
                  <a:pt x="2" y="9"/>
                </a:cubicBezTo>
                <a:cubicBezTo>
                  <a:pt x="3" y="11"/>
                  <a:pt x="6" y="11"/>
                  <a:pt x="8" y="9"/>
                </a:cubicBezTo>
                <a:cubicBezTo>
                  <a:pt x="9" y="8"/>
                  <a:pt x="9" y="5"/>
                  <a:pt x="8" y="3"/>
                </a:cubicBezTo>
                <a:close/>
                <a:moveTo>
                  <a:pt x="7" y="2"/>
                </a:moveTo>
                <a:cubicBezTo>
                  <a:pt x="7" y="3"/>
                  <a:pt x="6" y="3"/>
                  <a:pt x="6" y="3"/>
                </a:cubicBezTo>
                <a:cubicBezTo>
                  <a:pt x="6" y="3"/>
                  <a:pt x="6" y="3"/>
                  <a:pt x="6" y="2"/>
                </a:cubicBezTo>
                <a:cubicBezTo>
                  <a:pt x="6" y="2"/>
                  <a:pt x="6" y="2"/>
                  <a:pt x="6" y="2"/>
                </a:cubicBezTo>
                <a:cubicBezTo>
                  <a:pt x="6" y="2"/>
                  <a:pt x="7" y="2"/>
                  <a:pt x="7" y="2"/>
                </a:cubicBezTo>
                <a:close/>
              </a:path>
            </a:pathLst>
          </a:custGeom>
          <a:solidFill>
            <a:srgbClr val="EE4C2C"/>
          </a:solidFill>
        </p:spPr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838200" y="4857750"/>
            <a:ext cx="533400" cy="133350"/>
          </a:xfrm>
          <a:custGeom>
            <a:avLst/>
            <a:gdLst/>
            <a:ahLst/>
            <a:cxnLst/>
            <a:rect l="0" t="0" r="56" b="14"/>
            <a:pathLst>
              <a:path w="56" h="14">
                <a:moveTo>
                  <a:pt x="15" y="7"/>
                </a:moveTo>
                <a:lnTo>
                  <a:pt x="14" y="7"/>
                </a:lnTo>
                <a:lnTo>
                  <a:pt x="14" y="10"/>
                </a:lnTo>
                <a:lnTo>
                  <a:pt x="13" y="10"/>
                </a:lnTo>
                <a:lnTo>
                  <a:pt x="13" y="1"/>
                </a:lnTo>
                <a:lnTo>
                  <a:pt x="15" y="1"/>
                </a:lnTo>
                <a:cubicBezTo>
                  <a:pt x="18" y="1"/>
                  <a:pt x="19" y="2"/>
                  <a:pt x="19" y="4"/>
                </a:cubicBezTo>
                <a:cubicBezTo>
                  <a:pt x="19" y="6"/>
                  <a:pt x="17" y="7"/>
                  <a:pt x="15" y="7"/>
                </a:cubicBezTo>
                <a:close/>
                <a:moveTo>
                  <a:pt x="15" y="2"/>
                </a:moveTo>
                <a:cubicBezTo>
                  <a:pt x="15" y="2"/>
                  <a:pt x="14" y="2"/>
                  <a:pt x="14" y="2"/>
                </a:cubicBezTo>
                <a:lnTo>
                  <a:pt x="14" y="6"/>
                </a:lnTo>
                <a:lnTo>
                  <a:pt x="15" y="6"/>
                </a:lnTo>
                <a:cubicBezTo>
                  <a:pt x="17" y="6"/>
                  <a:pt x="18" y="5"/>
                  <a:pt x="18" y="4"/>
                </a:cubicBezTo>
                <a:cubicBezTo>
                  <a:pt x="18" y="3"/>
                  <a:pt x="17" y="2"/>
                  <a:pt x="15" y="2"/>
                </a:cubicBezTo>
                <a:close/>
                <a:moveTo>
                  <a:pt x="23" y="10"/>
                </a:moveTo>
                <a:lnTo>
                  <a:pt x="23" y="12"/>
                </a:lnTo>
                <a:cubicBezTo>
                  <a:pt x="22" y="14"/>
                  <a:pt x="21" y="14"/>
                  <a:pt x="20" y="14"/>
                </a:cubicBezTo>
                <a:cubicBezTo>
                  <a:pt x="20" y="14"/>
                  <a:pt x="20" y="14"/>
                  <a:pt x="19" y="14"/>
                </a:cubicBezTo>
                <a:lnTo>
                  <a:pt x="19" y="13"/>
                </a:lnTo>
                <a:cubicBezTo>
                  <a:pt x="20" y="13"/>
                  <a:pt x="20" y="13"/>
                  <a:pt x="20" y="13"/>
                </a:cubicBezTo>
                <a:cubicBezTo>
                  <a:pt x="21" y="13"/>
                  <a:pt x="21" y="13"/>
                  <a:pt x="22" y="12"/>
                </a:cubicBezTo>
                <a:lnTo>
                  <a:pt x="22" y="10"/>
                </a:lnTo>
                <a:lnTo>
                  <a:pt x="20" y="3"/>
                </a:lnTo>
                <a:lnTo>
                  <a:pt x="21" y="3"/>
                </a:lnTo>
                <a:lnTo>
                  <a:pt x="23" y="9"/>
                </a:lnTo>
                <a:lnTo>
                  <a:pt x="25" y="3"/>
                </a:lnTo>
                <a:lnTo>
                  <a:pt x="26" y="3"/>
                </a:lnTo>
                <a:close/>
                <a:moveTo>
                  <a:pt x="29" y="2"/>
                </a:moveTo>
                <a:lnTo>
                  <a:pt x="29" y="10"/>
                </a:lnTo>
                <a:lnTo>
                  <a:pt x="28" y="10"/>
                </a:lnTo>
                <a:lnTo>
                  <a:pt x="28" y="2"/>
                </a:lnTo>
                <a:lnTo>
                  <a:pt x="25" y="2"/>
                </a:lnTo>
                <a:lnTo>
                  <a:pt x="25" y="1"/>
                </a:lnTo>
                <a:lnTo>
                  <a:pt x="32" y="1"/>
                </a:lnTo>
                <a:lnTo>
                  <a:pt x="32" y="2"/>
                </a:lnTo>
                <a:cubicBezTo>
                  <a:pt x="32" y="2"/>
                  <a:pt x="29" y="2"/>
                  <a:pt x="29" y="2"/>
                </a:cubicBezTo>
                <a:close/>
                <a:moveTo>
                  <a:pt x="35" y="11"/>
                </a:moveTo>
                <a:cubicBezTo>
                  <a:pt x="33" y="11"/>
                  <a:pt x="32" y="9"/>
                  <a:pt x="32" y="7"/>
                </a:cubicBezTo>
                <a:cubicBezTo>
                  <a:pt x="32" y="5"/>
                  <a:pt x="33" y="3"/>
                  <a:pt x="35" y="3"/>
                </a:cubicBezTo>
                <a:cubicBezTo>
                  <a:pt x="37" y="3"/>
                  <a:pt x="38" y="5"/>
                  <a:pt x="38" y="7"/>
                </a:cubicBezTo>
                <a:cubicBezTo>
                  <a:pt x="38" y="9"/>
                  <a:pt x="37" y="11"/>
                  <a:pt x="35" y="11"/>
                </a:cubicBezTo>
                <a:close/>
                <a:moveTo>
                  <a:pt x="35" y="4"/>
                </a:moveTo>
                <a:cubicBezTo>
                  <a:pt x="33" y="4"/>
                  <a:pt x="32" y="5"/>
                  <a:pt x="32" y="7"/>
                </a:cubicBezTo>
                <a:cubicBezTo>
                  <a:pt x="32" y="9"/>
                  <a:pt x="33" y="10"/>
                  <a:pt x="35" y="10"/>
                </a:cubicBezTo>
                <a:cubicBezTo>
                  <a:pt x="36" y="10"/>
                  <a:pt x="37" y="9"/>
                  <a:pt x="37" y="7"/>
                </a:cubicBezTo>
                <a:cubicBezTo>
                  <a:pt x="37" y="5"/>
                  <a:pt x="36" y="4"/>
                  <a:pt x="35" y="4"/>
                </a:cubicBezTo>
                <a:close/>
                <a:moveTo>
                  <a:pt x="40" y="10"/>
                </a:moveTo>
                <a:lnTo>
                  <a:pt x="40" y="10"/>
                </a:lnTo>
                <a:lnTo>
                  <a:pt x="40" y="3"/>
                </a:lnTo>
                <a:lnTo>
                  <a:pt x="40" y="3"/>
                </a:lnTo>
                <a:lnTo>
                  <a:pt x="40" y="5"/>
                </a:lnTo>
                <a:cubicBezTo>
                  <a:pt x="41" y="4"/>
                  <a:pt x="42" y="3"/>
                  <a:pt x="42" y="3"/>
                </a:cubicBezTo>
                <a:cubicBezTo>
                  <a:pt x="43" y="3"/>
                  <a:pt x="43" y="3"/>
                  <a:pt x="44" y="4"/>
                </a:cubicBezTo>
                <a:lnTo>
                  <a:pt x="43" y="4"/>
                </a:lnTo>
                <a:cubicBezTo>
                  <a:pt x="43" y="4"/>
                  <a:pt x="43" y="4"/>
                  <a:pt x="42" y="4"/>
                </a:cubicBezTo>
                <a:cubicBezTo>
                  <a:pt x="42" y="4"/>
                  <a:pt x="41" y="5"/>
                  <a:pt x="40" y="6"/>
                </a:cubicBezTo>
                <a:close/>
                <a:moveTo>
                  <a:pt x="47" y="11"/>
                </a:moveTo>
                <a:cubicBezTo>
                  <a:pt x="45" y="11"/>
                  <a:pt x="44" y="9"/>
                  <a:pt x="44" y="7"/>
                </a:cubicBezTo>
                <a:cubicBezTo>
                  <a:pt x="44" y="5"/>
                  <a:pt x="45" y="3"/>
                  <a:pt x="47" y="3"/>
                </a:cubicBezTo>
                <a:cubicBezTo>
                  <a:pt x="48" y="3"/>
                  <a:pt x="49" y="3"/>
                  <a:pt x="49" y="4"/>
                </a:cubicBezTo>
                <a:lnTo>
                  <a:pt x="49" y="5"/>
                </a:lnTo>
                <a:cubicBezTo>
                  <a:pt x="49" y="4"/>
                  <a:pt x="48" y="4"/>
                  <a:pt x="47" y="4"/>
                </a:cubicBezTo>
                <a:cubicBezTo>
                  <a:pt x="46" y="4"/>
                  <a:pt x="45" y="5"/>
                  <a:pt x="45" y="7"/>
                </a:cubicBezTo>
                <a:cubicBezTo>
                  <a:pt x="45" y="9"/>
                  <a:pt x="46" y="10"/>
                  <a:pt x="47" y="10"/>
                </a:cubicBezTo>
                <a:cubicBezTo>
                  <a:pt x="48" y="10"/>
                  <a:pt x="49" y="9"/>
                  <a:pt x="49" y="9"/>
                </a:cubicBezTo>
                <a:lnTo>
                  <a:pt x="49" y="10"/>
                </a:lnTo>
                <a:cubicBezTo>
                  <a:pt x="49" y="10"/>
                  <a:pt x="48" y="11"/>
                  <a:pt x="47" y="11"/>
                </a:cubicBezTo>
                <a:close/>
                <a:moveTo>
                  <a:pt x="55" y="10"/>
                </a:moveTo>
                <a:lnTo>
                  <a:pt x="55" y="6"/>
                </a:lnTo>
                <a:cubicBezTo>
                  <a:pt x="55" y="5"/>
                  <a:pt x="55" y="4"/>
                  <a:pt x="54" y="4"/>
                </a:cubicBezTo>
                <a:cubicBezTo>
                  <a:pt x="53" y="4"/>
                  <a:pt x="52" y="5"/>
                  <a:pt x="52" y="5"/>
                </a:cubicBezTo>
                <a:lnTo>
                  <a:pt x="52" y="10"/>
                </a:lnTo>
                <a:lnTo>
                  <a:pt x="51" y="10"/>
                </a:lnTo>
                <a:lnTo>
                  <a:pt x="51" y="0"/>
                </a:lnTo>
                <a:lnTo>
                  <a:pt x="52" y="0"/>
                </a:lnTo>
                <a:lnTo>
                  <a:pt x="52" y="4"/>
                </a:lnTo>
                <a:cubicBezTo>
                  <a:pt x="52" y="4"/>
                  <a:pt x="53" y="3"/>
                  <a:pt x="54" y="3"/>
                </a:cubicBezTo>
                <a:cubicBezTo>
                  <a:pt x="55" y="3"/>
                  <a:pt x="56" y="4"/>
                  <a:pt x="56" y="6"/>
                </a:cubicBezTo>
                <a:lnTo>
                  <a:pt x="56" y="10"/>
                </a:lnTo>
                <a:lnTo>
                  <a:pt x="55" y="10"/>
                </a:lnTo>
                <a:close/>
              </a:path>
            </a:pathLst>
          </a:custGeom>
          <a:solidFill>
            <a:srgbClr val="000000"/>
          </a:solidFill>
        </p:spPr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838200" y="3619500"/>
            <a:ext cx="533400" cy="533400"/>
          </a:xfrm>
          <a:custGeom>
            <a:avLst/>
            <a:gdLst/>
            <a:ahLst/>
            <a:cxnLst/>
            <a:rect l="0" t="0" r="56" b="56"/>
            <a:pathLst>
              <a:path w="56" h="56">
                <a:moveTo>
                  <a:pt x="0" y="36"/>
                </a:moveTo>
                <a:cubicBezTo>
                  <a:pt x="0" y="32"/>
                  <a:pt x="13" y="28"/>
                  <a:pt x="28" y="28"/>
                </a:cubicBezTo>
                <a:cubicBezTo>
                  <a:pt x="43" y="28"/>
                  <a:pt x="56" y="32"/>
                  <a:pt x="56" y="36"/>
                </a:cubicBezTo>
                <a:lnTo>
                  <a:pt x="56" y="48"/>
                </a:lnTo>
                <a:cubicBezTo>
                  <a:pt x="56" y="52"/>
                  <a:pt x="43" y="56"/>
                  <a:pt x="28" y="56"/>
                </a:cubicBezTo>
                <a:cubicBezTo>
                  <a:pt x="13" y="56"/>
                  <a:pt x="0" y="52"/>
                  <a:pt x="0" y="48"/>
                </a:cubicBezTo>
                <a:close/>
                <a:moveTo>
                  <a:pt x="0" y="22"/>
                </a:moveTo>
                <a:cubicBezTo>
                  <a:pt x="0" y="18"/>
                  <a:pt x="13" y="14"/>
                  <a:pt x="28" y="14"/>
                </a:cubicBezTo>
                <a:cubicBezTo>
                  <a:pt x="43" y="14"/>
                  <a:pt x="56" y="18"/>
                  <a:pt x="56" y="22"/>
                </a:cubicBezTo>
                <a:lnTo>
                  <a:pt x="56" y="34"/>
                </a:lnTo>
                <a:cubicBezTo>
                  <a:pt x="56" y="38"/>
                  <a:pt x="43" y="42"/>
                  <a:pt x="28" y="42"/>
                </a:cubicBezTo>
                <a:cubicBezTo>
                  <a:pt x="13" y="42"/>
                  <a:pt x="0" y="38"/>
                  <a:pt x="0" y="34"/>
                </a:cubicBezTo>
                <a:close/>
                <a:moveTo>
                  <a:pt x="0" y="8"/>
                </a:moveTo>
                <a:cubicBezTo>
                  <a:pt x="0" y="4"/>
                  <a:pt x="13" y="0"/>
                  <a:pt x="28" y="0"/>
                </a:cubicBezTo>
                <a:cubicBezTo>
                  <a:pt x="43" y="0"/>
                  <a:pt x="56" y="4"/>
                  <a:pt x="56" y="8"/>
                </a:cubicBezTo>
                <a:lnTo>
                  <a:pt x="56" y="20"/>
                </a:lnTo>
                <a:cubicBezTo>
                  <a:pt x="56" y="24"/>
                  <a:pt x="43" y="28"/>
                  <a:pt x="28" y="28"/>
                </a:cubicBezTo>
                <a:cubicBezTo>
                  <a:pt x="13" y="28"/>
                  <a:pt x="0" y="24"/>
                  <a:pt x="0" y="20"/>
                </a:cubicBezTo>
                <a:close/>
                <a:moveTo>
                  <a:pt x="0" y="36"/>
                </a:moveTo>
                <a:cubicBezTo>
                  <a:pt x="0" y="41"/>
                  <a:pt x="13" y="45"/>
                  <a:pt x="28" y="45"/>
                </a:cubicBezTo>
                <a:cubicBezTo>
                  <a:pt x="43" y="45"/>
                  <a:pt x="56" y="41"/>
                  <a:pt x="56" y="36"/>
                </a:cubicBezTo>
                <a:moveTo>
                  <a:pt x="0" y="22"/>
                </a:moveTo>
                <a:cubicBezTo>
                  <a:pt x="0" y="27"/>
                  <a:pt x="13" y="31"/>
                  <a:pt x="28" y="31"/>
                </a:cubicBezTo>
                <a:cubicBezTo>
                  <a:pt x="43" y="31"/>
                  <a:pt x="56" y="27"/>
                  <a:pt x="56" y="22"/>
                </a:cubicBezTo>
                <a:moveTo>
                  <a:pt x="0" y="8"/>
                </a:moveTo>
                <a:cubicBezTo>
                  <a:pt x="0" y="13"/>
                  <a:pt x="13" y="17"/>
                  <a:pt x="28" y="17"/>
                </a:cubicBezTo>
                <a:cubicBezTo>
                  <a:pt x="43" y="17"/>
                  <a:pt x="56" y="13"/>
                  <a:pt x="56" y="8"/>
                </a:cubicBezTo>
              </a:path>
            </a:pathLst>
          </a:custGeom>
          <a:noFill/>
          <a:ln w="27940" cap="rnd">
            <a:solidFill>
              <a:srgbClr val="38BDF8"/>
            </a:solidFill>
            <a:round/>
          </a:ln>
        </p:spPr>
        <p:txBody>
          <a:bodyPr rtlCol="0" anchor="ctr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1-el_b658f9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2300" y="5448300"/>
            <a:ext cx="3962400" cy="3962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800100" y="-800100"/>
            <a:ext cx="1143000" cy="1143000"/>
          </a:xfrm>
          <a:prstGeom prst="rect">
            <a:avLst/>
          </a:prstGeom>
          <a:noFill/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09600" y="4191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pic>
        <p:nvPicPr>
          <p:cNvPr id="6" name="Picture 5" descr="crop-14-el_29a0c8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876300"/>
            <a:ext cx="4724400" cy="4724400"/>
          </a:xfrm>
          <a:prstGeom prst="rect">
            <a:avLst/>
          </a:prstGeom>
        </p:spPr>
      </p:pic>
      <p:pic>
        <p:nvPicPr>
          <p:cNvPr id="7" name="Picture 6" descr="crop-14-el_f15062f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6300" y="1447800"/>
            <a:ext cx="3581400" cy="3581400"/>
          </a:xfrm>
          <a:prstGeom prst="rect">
            <a:avLst/>
          </a:prstGeom>
        </p:spPr>
      </p:pic>
      <p:pic>
        <p:nvPicPr>
          <p:cNvPr id="8" name="Picture 7" descr="crop-5-el_40391ca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7800" y="2019300"/>
            <a:ext cx="2438400" cy="2438400"/>
          </a:xfrm>
          <a:prstGeom prst="rect">
            <a:avLst/>
          </a:prstGeom>
        </p:spPr>
      </p:pic>
      <p:pic>
        <p:nvPicPr>
          <p:cNvPr id="9" name="Picture 8" descr="crop-14-el_1d6c525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91900" y="876300"/>
            <a:ext cx="952500" cy="5105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09600" y="2857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09600" y="6534150"/>
            <a:ext cx="4000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大模型发展路径与技术原理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0" y="6534150"/>
            <a:ext cx="11049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pic>
        <p:nvPicPr>
          <p:cNvPr id="13" name="Picture 12" descr="crop-14-el_65a01a6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4550" y="2686050"/>
            <a:ext cx="1104900" cy="11049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3400" y="1047750"/>
            <a:ext cx="4000500" cy="1714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0500"/>
              </a:lnSpc>
            </a:pPr>
            <a:r>
              <a:rPr sz="10500" b="1" i="0">
                <a:solidFill>
                  <a:srgbClr val="16202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2952750"/>
            <a:ext cx="5905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spc="225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PLAN · ACT · OBSERVE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238500"/>
            <a:ext cx="66675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3960"/>
              </a:lnSpc>
            </a:pPr>
            <a:r>
              <a:rPr sz="33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Agent 架构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3981450"/>
            <a:ext cx="762000" cy="38100"/>
          </a:xfrm>
          <a:prstGeom prst="rect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09600" y="4210050"/>
            <a:ext cx="57150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当大模型不再只回答问题，而是能规划、调用工具、读写记忆、循环修正——它就从</a:t>
            </a:r>
          </a:p>
          <a:p>
            <a:pPr algn="l">
              <a:lnSpc>
                <a:spcPts val="1920"/>
              </a:lnSpc>
            </a:pPr>
            <a:r>
              <a:rPr sz="12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「语言模型」变成了「智能体」。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1-el_b658f9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2300" y="5448300"/>
            <a:ext cx="3962400" cy="3962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800100" y="-800100"/>
            <a:ext cx="1143000" cy="1143000"/>
          </a:xfrm>
          <a:prstGeom prst="rect">
            <a:avLst/>
          </a:prstGeom>
          <a:noFill/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09600" y="4191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09600" y="2857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4000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大模型发展路径与技术原理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0" y="6534150"/>
            <a:ext cx="11049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400" y="495300"/>
            <a:ext cx="7429500" cy="533400"/>
          </a:xfrm>
          <a:prstGeom prst="roundRect">
            <a:avLst>
              <a:gd name="adj" fmla="val 17857"/>
            </a:avLst>
          </a:prstGeom>
          <a:solidFill>
            <a:srgbClr val="16202C"/>
          </a:solidFill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533400" y="1257300"/>
            <a:ext cx="7429500" cy="1047750"/>
          </a:xfrm>
          <a:prstGeom prst="roundRect">
            <a:avLst>
              <a:gd name="adj" fmla="val 9090"/>
            </a:avLst>
          </a:prstGeom>
          <a:solidFill>
            <a:srgbClr val="16202C"/>
          </a:solidFill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33400" y="2533650"/>
            <a:ext cx="7429500" cy="1390650"/>
          </a:xfrm>
          <a:prstGeom prst="roundRect">
            <a:avLst>
              <a:gd name="adj" fmla="val 6849"/>
            </a:avLst>
          </a:prstGeom>
          <a:solidFill>
            <a:srgbClr val="16202C"/>
          </a:solidFill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33400" y="4152900"/>
            <a:ext cx="7429500" cy="685800"/>
          </a:xfrm>
          <a:prstGeom prst="roundRect">
            <a:avLst>
              <a:gd name="adj" fmla="val 13888"/>
            </a:avLst>
          </a:prstGeom>
          <a:solidFill>
            <a:srgbClr val="16202C"/>
          </a:solidFill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552450"/>
            <a:ext cx="3048000" cy="133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990"/>
              </a:lnSpc>
            </a:pPr>
            <a:r>
              <a:rPr sz="819" b="0" i="0" spc="75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外部环境 · Environment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314450"/>
            <a:ext cx="3048000" cy="133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990"/>
              </a:lnSpc>
            </a:pPr>
            <a:r>
              <a:rPr sz="819" b="0" i="0" spc="75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交互层 · 循环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90800"/>
            <a:ext cx="3238500" cy="133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990"/>
              </a:lnSpc>
            </a:pPr>
            <a:r>
              <a:rPr sz="819" b="0" i="0" spc="75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核心层 · 四大模块 Core Modules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10050"/>
            <a:ext cx="2857500" cy="133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990"/>
              </a:lnSpc>
            </a:pPr>
            <a:r>
              <a:rPr sz="819" b="0" i="0" spc="75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基础层 · 大模型 LLM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0600" y="1504950"/>
            <a:ext cx="1619250" cy="342900"/>
          </a:xfrm>
          <a:prstGeom prst="roundRect">
            <a:avLst>
              <a:gd name="adj" fmla="val 22222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5905500" y="1504950"/>
            <a:ext cx="1619250" cy="342900"/>
          </a:xfrm>
          <a:prstGeom prst="roundRect">
            <a:avLst>
              <a:gd name="adj" fmla="val 22222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5905500" y="1905000"/>
            <a:ext cx="1619250" cy="342900"/>
          </a:xfrm>
          <a:prstGeom prst="roundRect">
            <a:avLst>
              <a:gd name="adj" fmla="val 22222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990600" y="1905000"/>
            <a:ext cx="1619250" cy="342900"/>
          </a:xfrm>
          <a:prstGeom prst="roundRect">
            <a:avLst>
              <a:gd name="adj" fmla="val 22222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23900" y="2800350"/>
            <a:ext cx="1676400" cy="1047750"/>
          </a:xfrm>
          <a:prstGeom prst="roundRect">
            <a:avLst>
              <a:gd name="adj" fmla="val 7272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2514600" y="2800350"/>
            <a:ext cx="1676400" cy="1047750"/>
          </a:xfrm>
          <a:prstGeom prst="roundRect">
            <a:avLst>
              <a:gd name="adj" fmla="val 7272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4305300" y="2800350"/>
            <a:ext cx="1676400" cy="1047750"/>
          </a:xfrm>
          <a:prstGeom prst="roundRect">
            <a:avLst>
              <a:gd name="adj" fmla="val 7272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6096000" y="2800350"/>
            <a:ext cx="1676400" cy="1047750"/>
          </a:xfrm>
          <a:prstGeom prst="roundRect">
            <a:avLst>
              <a:gd name="adj" fmla="val 7272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723900" y="4419600"/>
            <a:ext cx="7048500" cy="342900"/>
          </a:xfrm>
          <a:prstGeom prst="roundRect">
            <a:avLst>
              <a:gd name="adj" fmla="val 22222"/>
            </a:avLst>
          </a:prstGeom>
          <a:solidFill>
            <a:srgbClr val="16202C"/>
          </a:solidFill>
          <a:ln w="13970" cap="flat">
            <a:solidFill>
              <a:srgbClr val="38BDF8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305800" y="609600"/>
            <a:ext cx="3352800" cy="152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080"/>
              </a:lnSpc>
            </a:pPr>
            <a:r>
              <a:rPr sz="900" b="0" i="0" spc="15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AGENT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5800" y="838200"/>
            <a:ext cx="335280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880"/>
              </a:lnSpc>
            </a:pPr>
            <a:r>
              <a:rPr sz="240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Agent 总体架构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05800" y="1333500"/>
            <a:ext cx="533400" cy="38100"/>
          </a:xfrm>
          <a:prstGeom prst="rect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305800" y="1562100"/>
            <a:ext cx="3352800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大模型是「大脑」，规划、记忆、工具、执行是它的四肢</a:t>
            </a:r>
          </a:p>
          <a:p>
            <a:pPr algn="l">
              <a:lnSpc>
                <a:spcPts val="1889"/>
              </a:lnSpc>
            </a:pPr>
            <a:r>
              <a:rPr sz="105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与感官；Agent 把四者接成「感知—思考—行动」的闭</a:t>
            </a:r>
          </a:p>
          <a:p>
            <a:pPr algn="l">
              <a:lnSpc>
                <a:spcPts val="1889"/>
              </a:lnSpc>
            </a:pPr>
            <a:r>
              <a:rPr sz="105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环，让模型能持续与环境交互。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05800" y="2857500"/>
            <a:ext cx="335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305800" y="3009900"/>
            <a:ext cx="33528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170"/>
              </a:lnSpc>
            </a:pPr>
            <a:r>
              <a:rPr sz="980" b="0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关键连线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5800" y="3276600"/>
            <a:ext cx="33528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4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LLM ⇄ 四大模块：双向连接，决策下发 / 状态回传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800" y="3733800"/>
            <a:ext cx="33528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4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四大模块 ⇄ 外部环境：工具调用 / 观察结果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05800" y="4305300"/>
            <a:ext cx="335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305800" y="4495800"/>
            <a:ext cx="33528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20"/>
              </a:lnSpc>
            </a:pPr>
            <a:r>
              <a:rPr sz="135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Agent = 大模型 + 规划 + 记忆 + 工具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5800" y="5105400"/>
            <a:ext cx="33528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把「会说话」变成「会做事」。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3900" y="704850"/>
            <a:ext cx="704850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350"/>
              </a:lnSpc>
            </a:pPr>
            <a:r>
              <a:rPr sz="1120" b="0" i="0" spc="75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用户 · 互联网 · 企业系统 · 物理设备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0600" y="1504950"/>
            <a:ext cx="161925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170"/>
              </a:lnSpc>
            </a:pPr>
            <a:r>
              <a:rPr sz="98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感知 Observation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05500" y="1504950"/>
            <a:ext cx="161925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170"/>
              </a:lnSpc>
            </a:pPr>
            <a:r>
              <a:rPr sz="98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思考 Thought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05500" y="1905000"/>
            <a:ext cx="161925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170"/>
              </a:lnSpc>
            </a:pPr>
            <a:r>
              <a:rPr sz="98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行动 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0600" y="1905000"/>
            <a:ext cx="161925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170"/>
              </a:lnSpc>
            </a:pPr>
            <a:r>
              <a:rPr sz="98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观察 Observation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95600" y="1600200"/>
            <a:ext cx="28575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感知 → 思考 → 行动 → 观察</a:t>
            </a:r>
          </a:p>
          <a:p>
            <a:pPr algn="ctr">
              <a:lnSpc>
                <a:spcPts val="144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循环迭代，直到任务完成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3900" y="2914650"/>
            <a:ext cx="16764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60"/>
              </a:lnSpc>
            </a:pPr>
            <a:r>
              <a:rPr sz="1050" b="0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规划 Planning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250" y="3162300"/>
            <a:ext cx="1409700" cy="647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40"/>
              </a:lnSpc>
            </a:pPr>
            <a:r>
              <a:rPr sz="819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把复杂目标拆成可执行的子任</a:t>
            </a:r>
          </a:p>
          <a:p>
            <a:pPr algn="ctr">
              <a:lnSpc>
                <a:spcPts val="1240"/>
              </a:lnSpc>
            </a:pPr>
            <a:r>
              <a:rPr sz="819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务；任务分解 · CoT · ToT · </a:t>
            </a:r>
          </a:p>
          <a:p>
            <a:pPr algn="ctr">
              <a:lnSpc>
                <a:spcPts val="1240"/>
              </a:lnSpc>
            </a:pPr>
            <a:r>
              <a:rPr sz="819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Reflexion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14600" y="2914650"/>
            <a:ext cx="16764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60"/>
              </a:lnSpc>
            </a:pPr>
            <a:r>
              <a:rPr sz="1050" b="0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记忆 Memory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47950" y="3162300"/>
            <a:ext cx="1409700" cy="647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40"/>
              </a:lnSpc>
            </a:pPr>
            <a:r>
              <a:rPr sz="819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短期＝对话上下文窗口；长期</a:t>
            </a:r>
          </a:p>
          <a:p>
            <a:pPr algn="ctr">
              <a:lnSpc>
                <a:spcPts val="1240"/>
              </a:lnSpc>
            </a:pPr>
            <a:r>
              <a:rPr sz="819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＝外部向量库，按需 RAG 检</a:t>
            </a:r>
          </a:p>
          <a:p>
            <a:pPr algn="ctr">
              <a:lnSpc>
                <a:spcPts val="1240"/>
              </a:lnSpc>
            </a:pPr>
            <a:r>
              <a:rPr sz="819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索召回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05300" y="2914650"/>
            <a:ext cx="16764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60"/>
              </a:lnSpc>
            </a:pPr>
            <a:r>
              <a:rPr sz="1050" b="0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工具使用 Tool Use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8650" y="3162300"/>
            <a:ext cx="1409700" cy="647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40"/>
              </a:lnSpc>
            </a:pPr>
            <a:r>
              <a:rPr sz="819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调用 API、搜索引擎、代码解</a:t>
            </a:r>
          </a:p>
          <a:p>
            <a:pPr algn="ctr">
              <a:lnSpc>
                <a:spcPts val="1240"/>
              </a:lnSpc>
            </a:pPr>
            <a:r>
              <a:rPr sz="819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释器、数据库；输出结构化 </a:t>
            </a:r>
          </a:p>
          <a:p>
            <a:pPr algn="ctr">
              <a:lnSpc>
                <a:spcPts val="1240"/>
              </a:lnSpc>
            </a:pPr>
            <a:r>
              <a:rPr sz="819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Function Calling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6000" y="2914650"/>
            <a:ext cx="16764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60"/>
              </a:lnSpc>
            </a:pPr>
            <a:r>
              <a:rPr sz="1050" b="0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执行 Action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29350" y="3162300"/>
            <a:ext cx="1409700" cy="647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40"/>
              </a:lnSpc>
            </a:pPr>
            <a:r>
              <a:rPr sz="819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把决策变成真实世界的操作，</a:t>
            </a:r>
          </a:p>
          <a:p>
            <a:pPr algn="ctr">
              <a:lnSpc>
                <a:spcPts val="1240"/>
              </a:lnSpc>
            </a:pPr>
            <a:r>
              <a:rPr sz="819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并接收环境返回的观察结果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3900" y="4419600"/>
            <a:ext cx="70485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60"/>
              </a:lnSpc>
            </a:pPr>
            <a:r>
              <a:rPr sz="105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大模型 LLM｜理解 · 推理 · 决策 · 生成 —— 语言理解 · 常识推理 · 代码生成 · 指令跟随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9804" y="3726656"/>
            <a:ext cx="1697164" cy="743902"/>
          </a:xfrm>
          <a:custGeom>
            <a:avLst/>
            <a:gdLst/>
            <a:ahLst/>
            <a:cxnLst/>
            <a:rect l="0" t="0" r="178" b="78"/>
            <a:pathLst>
              <a:path w="178" h="78" fill="none">
                <a:moveTo>
                  <a:pt x="176" y="2"/>
                </a:moveTo>
                <a:lnTo>
                  <a:pt x="2" y="76"/>
                </a:lnTo>
              </a:path>
            </a:pathLst>
          </a:custGeom>
          <a:noFill/>
          <a:ln w="13970" cap="flat">
            <a:solidFill>
              <a:srgbClr val="38BDF8"/>
            </a:solidFill>
            <a:round/>
            <a:headEnd type="triangle" w="med" len="med"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476750" y="2333625"/>
            <a:ext cx="26670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990"/>
              </a:lnSpc>
            </a:pPr>
            <a:r>
              <a:rPr sz="819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决策下发 ⇅ 状态回传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76750" y="1057275"/>
            <a:ext cx="26670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990"/>
              </a:lnSpc>
            </a:pPr>
            <a:r>
              <a:rPr sz="819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工具调用 ⇅ 观察结果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336131" y="3831431"/>
            <a:ext cx="703897" cy="604837"/>
          </a:xfrm>
          <a:custGeom>
            <a:avLst/>
            <a:gdLst/>
            <a:ahLst/>
            <a:cxnLst/>
            <a:rect l="0" t="0" r="73" b="63"/>
            <a:pathLst>
              <a:path w="73" h="63" fill="none">
                <a:moveTo>
                  <a:pt x="72" y="2"/>
                </a:moveTo>
                <a:lnTo>
                  <a:pt x="2" y="62"/>
                </a:lnTo>
              </a:path>
            </a:pathLst>
          </a:custGeom>
          <a:noFill/>
          <a:ln w="13970" cap="flat">
            <a:solidFill>
              <a:srgbClr val="38BDF8"/>
            </a:solidFill>
            <a:round/>
            <a:headEnd type="triangle" w="med" len="med"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4456271" y="3831431"/>
            <a:ext cx="703897" cy="604837"/>
          </a:xfrm>
          <a:custGeom>
            <a:avLst/>
            <a:gdLst/>
            <a:ahLst/>
            <a:cxnLst/>
            <a:rect l="0" t="0" r="73" b="63"/>
            <a:pathLst>
              <a:path w="73" h="63" fill="none">
                <a:moveTo>
                  <a:pt x="2" y="2"/>
                </a:moveTo>
                <a:lnTo>
                  <a:pt x="72" y="62"/>
                </a:lnTo>
              </a:path>
            </a:pathLst>
          </a:custGeom>
          <a:noFill/>
          <a:ln w="13970" cap="flat">
            <a:solidFill>
              <a:srgbClr val="38BDF8"/>
            </a:solidFill>
            <a:round/>
            <a:headEnd type="triangle" w="med" len="med"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6079331" y="3726656"/>
            <a:ext cx="1697164" cy="743902"/>
          </a:xfrm>
          <a:custGeom>
            <a:avLst/>
            <a:gdLst/>
            <a:ahLst/>
            <a:cxnLst/>
            <a:rect l="0" t="0" r="178" b="78"/>
            <a:pathLst>
              <a:path w="178" h="78" fill="none">
                <a:moveTo>
                  <a:pt x="2" y="2"/>
                </a:moveTo>
                <a:lnTo>
                  <a:pt x="176" y="76"/>
                </a:lnTo>
              </a:path>
            </a:pathLst>
          </a:custGeom>
          <a:noFill/>
          <a:ln w="13970" cap="flat">
            <a:solidFill>
              <a:srgbClr val="38BDF8"/>
            </a:solidFill>
            <a:round/>
            <a:headEnd type="triangle" w="med" len="med"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2593181" y="1621631"/>
            <a:ext cx="3328987" cy="109537"/>
          </a:xfrm>
          <a:custGeom>
            <a:avLst/>
            <a:gdLst/>
            <a:ahLst/>
            <a:cxnLst/>
            <a:rect l="0" t="0" r="349" b="11"/>
            <a:pathLst>
              <a:path w="349" h="11" fill="none">
                <a:moveTo>
                  <a:pt x="2" y="6"/>
                </a:moveTo>
                <a:lnTo>
                  <a:pt x="348" y="6"/>
                </a:lnTo>
              </a:path>
            </a:pathLst>
          </a:custGeom>
          <a:noFill/>
          <a:ln w="13970" cap="flat">
            <a:solidFill>
              <a:srgbClr val="38BDF8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6660356" y="1793081"/>
            <a:ext cx="109537" cy="128587"/>
          </a:xfrm>
          <a:custGeom>
            <a:avLst/>
            <a:gdLst/>
            <a:ahLst/>
            <a:cxnLst/>
            <a:rect l="0" t="0" r="11" b="13"/>
            <a:pathLst>
              <a:path w="11" h="13" fill="none">
                <a:moveTo>
                  <a:pt x="6" y="6"/>
                </a:moveTo>
                <a:lnTo>
                  <a:pt x="6" y="12"/>
                </a:lnTo>
              </a:path>
            </a:pathLst>
          </a:custGeom>
          <a:noFill/>
          <a:ln w="13970" cap="flat">
            <a:solidFill>
              <a:srgbClr val="38BDF8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2593181" y="2021681"/>
            <a:ext cx="3328987" cy="109537"/>
          </a:xfrm>
          <a:custGeom>
            <a:avLst/>
            <a:gdLst/>
            <a:ahLst/>
            <a:cxnLst/>
            <a:rect l="0" t="0" r="349" b="11"/>
            <a:pathLst>
              <a:path w="349" h="11" fill="none">
                <a:moveTo>
                  <a:pt x="348" y="6"/>
                </a:moveTo>
                <a:lnTo>
                  <a:pt x="2" y="6"/>
                </a:lnTo>
              </a:path>
            </a:pathLst>
          </a:custGeom>
          <a:noFill/>
          <a:ln w="13970" cap="flat">
            <a:solidFill>
              <a:srgbClr val="38BDF8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1745456" y="1831181"/>
            <a:ext cx="109537" cy="128587"/>
          </a:xfrm>
          <a:custGeom>
            <a:avLst/>
            <a:gdLst/>
            <a:ahLst/>
            <a:cxnLst/>
            <a:rect l="0" t="0" r="11" b="13"/>
            <a:pathLst>
              <a:path w="11" h="13" fill="none">
                <a:moveTo>
                  <a:pt x="6" y="8"/>
                </a:moveTo>
                <a:lnTo>
                  <a:pt x="6" y="2"/>
                </a:lnTo>
              </a:path>
            </a:pathLst>
          </a:custGeom>
          <a:noFill/>
          <a:ln w="13970" cap="flat">
            <a:solidFill>
              <a:srgbClr val="38BDF8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4193381" y="2288381"/>
            <a:ext cx="109537" cy="261937"/>
          </a:xfrm>
          <a:custGeom>
            <a:avLst/>
            <a:gdLst/>
            <a:ahLst/>
            <a:cxnLst/>
            <a:rect l="0" t="0" r="11" b="27"/>
            <a:pathLst>
              <a:path w="11" h="27" fill="none">
                <a:moveTo>
                  <a:pt x="6" y="26"/>
                </a:moveTo>
                <a:lnTo>
                  <a:pt x="6" y="2"/>
                </a:lnTo>
              </a:path>
            </a:pathLst>
          </a:custGeom>
          <a:noFill/>
          <a:ln w="13970" cap="flat">
            <a:solidFill>
              <a:srgbClr val="243040"/>
            </a:solidFill>
            <a:round/>
            <a:headEnd type="triangle" w="med" len="med"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4193381" y="1012031"/>
            <a:ext cx="109537" cy="261937"/>
          </a:xfrm>
          <a:custGeom>
            <a:avLst/>
            <a:gdLst/>
            <a:ahLst/>
            <a:cxnLst/>
            <a:rect l="0" t="0" r="11" b="27"/>
            <a:pathLst>
              <a:path w="11" h="27" fill="none">
                <a:moveTo>
                  <a:pt x="6" y="26"/>
                </a:moveTo>
                <a:lnTo>
                  <a:pt x="6" y="2"/>
                </a:lnTo>
              </a:path>
            </a:pathLst>
          </a:custGeom>
          <a:noFill/>
          <a:ln w="13970" cap="flat">
            <a:solidFill>
              <a:srgbClr val="243040"/>
            </a:solidFill>
            <a:round/>
            <a:headEnd type="triangle" w="med" len="med"/>
            <a:tailEnd type="triangle" w="med" len="med"/>
          </a:ln>
        </p:spPr>
        <p:txBody>
          <a:bodyPr rtlCol="0" anchor="ctr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1-el_b658f9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2300" y="5448300"/>
            <a:ext cx="3962400" cy="3962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800100" y="-800100"/>
            <a:ext cx="1143000" cy="1143000"/>
          </a:xfrm>
          <a:prstGeom prst="rect">
            <a:avLst/>
          </a:prstGeom>
          <a:noFill/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09600" y="4191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09600" y="2857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4000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大模型发展路径与技术原理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0" y="6534150"/>
            <a:ext cx="11049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pic>
        <p:nvPicPr>
          <p:cNvPr id="9" name="Picture 8" descr="crop-16-el_49e7b3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209675"/>
            <a:ext cx="6248400" cy="49149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26531" y="2764631"/>
            <a:ext cx="120967" cy="1633537"/>
          </a:xfrm>
          <a:custGeom>
            <a:avLst/>
            <a:gdLst/>
            <a:ahLst/>
            <a:cxnLst/>
            <a:rect l="0" t="0" r="12" b="171"/>
            <a:pathLst>
              <a:path w="12" h="171" fill="none">
                <a:moveTo>
                  <a:pt x="2" y="2"/>
                </a:moveTo>
                <a:cubicBezTo>
                  <a:pt x="2" y="72"/>
                  <a:pt x="10" y="99"/>
                  <a:pt x="10" y="170"/>
                </a:cubicBezTo>
              </a:path>
            </a:pathLst>
          </a:custGeom>
          <a:noFill/>
          <a:ln w="13970" cap="flat">
            <a:solidFill>
              <a:srgbClr val="38BDF8"/>
            </a:solidFill>
            <a:round/>
            <a:tailEnd type="triangle" w="sm" len="sm"/>
          </a:ln>
        </p:spPr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031331" y="4829651"/>
            <a:ext cx="1271587" cy="56197"/>
          </a:xfrm>
          <a:custGeom>
            <a:avLst/>
            <a:gdLst/>
            <a:ahLst/>
            <a:cxnLst/>
            <a:rect l="0" t="0" r="133" b="5"/>
            <a:pathLst>
              <a:path w="133" h="5" fill="none">
                <a:moveTo>
                  <a:pt x="2" y="3"/>
                </a:moveTo>
                <a:cubicBezTo>
                  <a:pt x="56" y="3"/>
                  <a:pt x="77" y="3"/>
                  <a:pt x="132" y="3"/>
                </a:cubicBezTo>
              </a:path>
            </a:pathLst>
          </a:custGeom>
          <a:noFill/>
          <a:ln w="13970" cap="flat">
            <a:solidFill>
              <a:srgbClr val="38BDF8"/>
            </a:solidFill>
            <a:round/>
            <a:tailEnd type="triangle" w="sm" len="sm"/>
          </a:ln>
        </p:spPr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498181" y="2764631"/>
            <a:ext cx="101917" cy="1633537"/>
          </a:xfrm>
          <a:custGeom>
            <a:avLst/>
            <a:gdLst/>
            <a:ahLst/>
            <a:cxnLst/>
            <a:rect l="0" t="0" r="10" b="171"/>
            <a:pathLst>
              <a:path w="10" h="171" fill="none">
                <a:moveTo>
                  <a:pt x="2" y="170"/>
                </a:moveTo>
                <a:cubicBezTo>
                  <a:pt x="2" y="99"/>
                  <a:pt x="8" y="72"/>
                  <a:pt x="8" y="2"/>
                </a:cubicBezTo>
              </a:path>
            </a:pathLst>
          </a:custGeom>
          <a:noFill/>
          <a:ln w="13970" cap="flat">
            <a:solidFill>
              <a:srgbClr val="38BDF8"/>
            </a:solidFill>
            <a:round/>
            <a:tailEnd type="triangle" w="sm" len="sm"/>
          </a:ln>
        </p:spPr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2514600" y="1828800"/>
            <a:ext cx="2286000" cy="952500"/>
          </a:xfrm>
          <a:prstGeom prst="roundRect">
            <a:avLst>
              <a:gd name="adj" fmla="val 12000"/>
            </a:avLst>
          </a:prstGeom>
          <a:solidFill>
            <a:srgbClr val="16202C"/>
          </a:solidFill>
          <a:ln w="13970" cap="flat">
            <a:solidFill>
              <a:srgbClr val="38BDF8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762000" y="4381500"/>
            <a:ext cx="2286000" cy="952500"/>
          </a:xfrm>
          <a:prstGeom prst="roundRect">
            <a:avLst>
              <a:gd name="adj" fmla="val 12000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4286250" y="4381500"/>
            <a:ext cx="2286000" cy="952500"/>
          </a:xfrm>
          <a:prstGeom prst="roundRect">
            <a:avLst>
              <a:gd name="adj" fmla="val 12000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524125" y="1962150"/>
            <a:ext cx="228600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2020"/>
              </a:lnSpc>
            </a:pPr>
            <a:r>
              <a:rPr sz="1350" b="1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Thought · 思考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5575" y="2247900"/>
            <a:ext cx="19431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分析当前状态，判断下一步该做什么。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4533900"/>
            <a:ext cx="228600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2020"/>
              </a:lnSpc>
            </a:pPr>
            <a:r>
              <a:rPr sz="135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Action · 行动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450" y="4819650"/>
            <a:ext cx="19431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输出结构化的工具调用请求，交给环境</a:t>
            </a:r>
          </a:p>
          <a:p>
            <a:pPr algn="ctr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执行。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6250" y="4533900"/>
            <a:ext cx="228600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2020"/>
              </a:lnSpc>
            </a:pPr>
            <a:r>
              <a:rPr sz="135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Observation · 观察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7700" y="4819650"/>
            <a:ext cx="19431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环境返回执行结果，如「晴，</a:t>
            </a:r>
          </a:p>
          <a:p>
            <a:pPr algn="ctr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24℃」。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67000" y="3543300"/>
            <a:ext cx="19050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460"/>
              </a:lnSpc>
            </a:pPr>
            <a:r>
              <a:rPr sz="980" b="0" i="0" spc="75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Reasoning ⇄ Acting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500" y="5734050"/>
            <a:ext cx="53340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4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循环终止：模型判断任务已完成 → 输出 Final 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85800"/>
            <a:ext cx="590550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3600"/>
              </a:lnSpc>
            </a:pPr>
            <a:r>
              <a:rPr sz="24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ReAct 循环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1162050"/>
            <a:ext cx="533400" cy="38100"/>
          </a:xfrm>
          <a:prstGeom prst="rect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09600" y="1276350"/>
            <a:ext cx="45720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spc="15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REASONING + ACTING · AGENT LOOP</a:t>
            </a:r>
          </a:p>
        </p:txBody>
      </p:sp>
      <p:pic>
        <p:nvPicPr>
          <p:cNvPr id="27" name="Picture 26" descr="code-16-el_3851ef19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6553200" y="1219200"/>
            <a:ext cx="5448300" cy="3200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048500" y="4305300"/>
            <a:ext cx="24765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1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为什么重要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8500" y="4514850"/>
            <a:ext cx="4533900" cy="590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相比纯 CoT，ReAct 能接入真实世界的信息，显著减少幻觉；相比纯工具调用，它</a:t>
            </a:r>
          </a:p>
          <a:p>
            <a:pPr algn="l">
              <a:lnSpc>
                <a:spcPts val="16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保留了推理过程，能处理需要多步规划的任务。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8500" y="5238750"/>
            <a:ext cx="24765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1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工程要点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8500" y="5448300"/>
            <a:ext cx="4533900" cy="590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严格的输出格式约束（解析 Action 与参数）、最大步数限制（防止死循环）、错</a:t>
            </a:r>
          </a:p>
          <a:p>
            <a:pPr algn="l">
              <a:lnSpc>
                <a:spcPts val="16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误重试与超时处理。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1-el_b658f9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2300" y="5448300"/>
            <a:ext cx="3962400" cy="3962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800100" y="-800100"/>
            <a:ext cx="1143000" cy="1143000"/>
          </a:xfrm>
          <a:prstGeom prst="rect">
            <a:avLst/>
          </a:prstGeom>
          <a:noFill/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09600" y="4191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09600" y="2857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4000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大模型发展路径与技术原理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0" y="6534150"/>
            <a:ext cx="11049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90700" y="3476625"/>
            <a:ext cx="990600" cy="457200"/>
          </a:xfrm>
          <a:prstGeom prst="roundRect">
            <a:avLst>
              <a:gd name="adj" fmla="val 12500"/>
            </a:avLst>
          </a:prstGeom>
          <a:solidFill>
            <a:srgbClr val="16202C"/>
          </a:solidFill>
          <a:ln w="13970" cap="flat">
            <a:solidFill>
              <a:srgbClr val="38BDF8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85800" y="2571750"/>
            <a:ext cx="914400" cy="381000"/>
          </a:xfrm>
          <a:prstGeom prst="roundRect">
            <a:avLst>
              <a:gd name="adj" fmla="val 15000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3048000" y="2571750"/>
            <a:ext cx="914400" cy="381000"/>
          </a:xfrm>
          <a:prstGeom prst="roundRect">
            <a:avLst>
              <a:gd name="adj" fmla="val 15000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1866900" y="4476750"/>
            <a:ext cx="914400" cy="381000"/>
          </a:xfrm>
          <a:prstGeom prst="roundRect">
            <a:avLst>
              <a:gd name="adj" fmla="val 15000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667250" y="2495550"/>
            <a:ext cx="2857500" cy="342900"/>
          </a:xfrm>
          <a:prstGeom prst="roundRect">
            <a:avLst>
              <a:gd name="adj" fmla="val 16666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4667250" y="3009900"/>
            <a:ext cx="2857500" cy="342900"/>
          </a:xfrm>
          <a:prstGeom prst="roundRect">
            <a:avLst>
              <a:gd name="adj" fmla="val 16666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4667250" y="3524250"/>
            <a:ext cx="2857500" cy="342900"/>
          </a:xfrm>
          <a:prstGeom prst="roundRect">
            <a:avLst>
              <a:gd name="adj" fmla="val 16666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667250" y="4038600"/>
            <a:ext cx="2857500" cy="342900"/>
          </a:xfrm>
          <a:prstGeom prst="roundRect">
            <a:avLst>
              <a:gd name="adj" fmla="val 16666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4667250" y="4552950"/>
            <a:ext cx="2857500" cy="342900"/>
          </a:xfrm>
          <a:prstGeom prst="roundRect">
            <a:avLst>
              <a:gd name="adj" fmla="val 16666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486900" y="2571750"/>
            <a:ext cx="838200" cy="342900"/>
          </a:xfrm>
          <a:prstGeom prst="roundRect">
            <a:avLst>
              <a:gd name="adj" fmla="val 16666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0591800" y="3533775"/>
            <a:ext cx="838200" cy="342900"/>
          </a:xfrm>
          <a:prstGeom prst="roundRect">
            <a:avLst>
              <a:gd name="adj" fmla="val 16666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9486900" y="4495800"/>
            <a:ext cx="838200" cy="342900"/>
          </a:xfrm>
          <a:prstGeom prst="roundRect">
            <a:avLst>
              <a:gd name="adj" fmla="val 16666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382000" y="3533775"/>
            <a:ext cx="838200" cy="342900"/>
          </a:xfrm>
          <a:prstGeom prst="roundRect">
            <a:avLst>
              <a:gd name="adj" fmla="val 16666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9448800" y="3495675"/>
            <a:ext cx="914400" cy="419100"/>
          </a:xfrm>
          <a:prstGeom prst="roundRect">
            <a:avLst>
              <a:gd name="adj" fmla="val 13636"/>
            </a:avLst>
          </a:prstGeom>
          <a:solidFill>
            <a:srgbClr val="16202C"/>
          </a:solidFill>
          <a:ln w="13970" cap="flat">
            <a:solidFill>
              <a:srgbClr val="38BDF8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573053" y="2897981"/>
            <a:ext cx="235458" cy="641032"/>
          </a:xfrm>
          <a:custGeom>
            <a:avLst/>
            <a:gdLst/>
            <a:ahLst/>
            <a:cxnLst/>
            <a:rect l="0" t="0" r="24" b="67"/>
            <a:pathLst>
              <a:path w="24" h="67" fill="none">
                <a:moveTo>
                  <a:pt x="23" y="66"/>
                </a:moveTo>
                <a:lnTo>
                  <a:pt x="2" y="2"/>
                </a:lnTo>
              </a:path>
            </a:pathLst>
          </a:custGeom>
          <a:noFill/>
          <a:ln w="13970" cap="flat">
            <a:solidFill>
              <a:srgbClr val="38BDF8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2763488" y="2897981"/>
            <a:ext cx="304514" cy="641032"/>
          </a:xfrm>
          <a:custGeom>
            <a:avLst/>
            <a:gdLst/>
            <a:ahLst/>
            <a:cxnLst/>
            <a:rect l="0" t="0" r="31" b="67"/>
            <a:pathLst>
              <a:path w="31" h="67" fill="none">
                <a:moveTo>
                  <a:pt x="2" y="66"/>
                </a:moveTo>
                <a:lnTo>
                  <a:pt x="30" y="2"/>
                </a:lnTo>
              </a:path>
            </a:pathLst>
          </a:custGeom>
          <a:noFill/>
          <a:ln w="13970" cap="flat">
            <a:solidFill>
              <a:srgbClr val="38BDF8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2237994" y="3917156"/>
            <a:ext cx="109347" cy="576262"/>
          </a:xfrm>
          <a:custGeom>
            <a:avLst/>
            <a:gdLst/>
            <a:ahLst/>
            <a:cxnLst/>
            <a:rect l="0" t="0" r="11" b="60"/>
            <a:pathLst>
              <a:path w="11" h="60" fill="none">
                <a:moveTo>
                  <a:pt x="9" y="2"/>
                </a:moveTo>
                <a:lnTo>
                  <a:pt x="5" y="59"/>
                </a:lnTo>
              </a:path>
            </a:pathLst>
          </a:custGeom>
          <a:noFill/>
          <a:ln w="13970" cap="flat">
            <a:solidFill>
              <a:srgbClr val="38BDF8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041231" y="2821781"/>
            <a:ext cx="109537" cy="204787"/>
          </a:xfrm>
          <a:custGeom>
            <a:avLst/>
            <a:gdLst/>
            <a:ahLst/>
            <a:cxnLst/>
            <a:rect l="0" t="0" r="11" b="21"/>
            <a:pathLst>
              <a:path w="11" h="21" fill="none">
                <a:moveTo>
                  <a:pt x="6" y="2"/>
                </a:moveTo>
                <a:lnTo>
                  <a:pt x="6" y="20"/>
                </a:lnTo>
              </a:path>
            </a:pathLst>
          </a:custGeom>
          <a:noFill/>
          <a:ln w="13970" cap="flat">
            <a:solidFill>
              <a:srgbClr val="8B9BB0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041231" y="3336131"/>
            <a:ext cx="109537" cy="204787"/>
          </a:xfrm>
          <a:custGeom>
            <a:avLst/>
            <a:gdLst/>
            <a:ahLst/>
            <a:cxnLst/>
            <a:rect l="0" t="0" r="11" b="21"/>
            <a:pathLst>
              <a:path w="11" h="21" fill="none">
                <a:moveTo>
                  <a:pt x="6" y="2"/>
                </a:moveTo>
                <a:lnTo>
                  <a:pt x="6" y="20"/>
                </a:lnTo>
              </a:path>
            </a:pathLst>
          </a:custGeom>
          <a:noFill/>
          <a:ln w="13970" cap="flat">
            <a:solidFill>
              <a:srgbClr val="8B9BB0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041231" y="3850481"/>
            <a:ext cx="109537" cy="204787"/>
          </a:xfrm>
          <a:custGeom>
            <a:avLst/>
            <a:gdLst/>
            <a:ahLst/>
            <a:cxnLst/>
            <a:rect l="0" t="0" r="11" b="21"/>
            <a:pathLst>
              <a:path w="11" h="21" fill="none">
                <a:moveTo>
                  <a:pt x="6" y="2"/>
                </a:moveTo>
                <a:lnTo>
                  <a:pt x="6" y="20"/>
                </a:lnTo>
              </a:path>
            </a:pathLst>
          </a:custGeom>
          <a:noFill/>
          <a:ln w="13970" cap="flat">
            <a:solidFill>
              <a:srgbClr val="8B9BB0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041231" y="4364831"/>
            <a:ext cx="109537" cy="204787"/>
          </a:xfrm>
          <a:custGeom>
            <a:avLst/>
            <a:gdLst/>
            <a:ahLst/>
            <a:cxnLst/>
            <a:rect l="0" t="0" r="11" b="21"/>
            <a:pathLst>
              <a:path w="11" h="21" fill="none">
                <a:moveTo>
                  <a:pt x="6" y="2"/>
                </a:moveTo>
                <a:lnTo>
                  <a:pt x="6" y="20"/>
                </a:lnTo>
              </a:path>
            </a:pathLst>
          </a:custGeom>
          <a:noFill/>
          <a:ln w="13970" cap="flat">
            <a:solidFill>
              <a:srgbClr val="8B9BB0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10303668" y="2863691"/>
            <a:ext cx="309657" cy="721042"/>
          </a:xfrm>
          <a:custGeom>
            <a:avLst/>
            <a:gdLst/>
            <a:ahLst/>
            <a:cxnLst/>
            <a:rect l="0" t="0" r="32" b="75"/>
            <a:pathLst>
              <a:path w="32" h="75" fill="none">
                <a:moveTo>
                  <a:pt x="2" y="2"/>
                </a:moveTo>
                <a:lnTo>
                  <a:pt x="31" y="74"/>
                </a:lnTo>
              </a:path>
            </a:pathLst>
          </a:custGeom>
          <a:noFill/>
          <a:ln w="13970" cap="flat">
            <a:solidFill>
              <a:srgbClr val="8B9BB0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0303668" y="3825716"/>
            <a:ext cx="309657" cy="721042"/>
          </a:xfrm>
          <a:custGeom>
            <a:avLst/>
            <a:gdLst/>
            <a:ahLst/>
            <a:cxnLst/>
            <a:rect l="0" t="0" r="32" b="75"/>
            <a:pathLst>
              <a:path w="32" h="75" fill="none">
                <a:moveTo>
                  <a:pt x="31" y="2"/>
                </a:moveTo>
                <a:lnTo>
                  <a:pt x="2" y="74"/>
                </a:lnTo>
              </a:path>
            </a:pathLst>
          </a:custGeom>
          <a:noFill/>
          <a:ln w="13970" cap="flat">
            <a:solidFill>
              <a:srgbClr val="8B9BB0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9198768" y="3825716"/>
            <a:ext cx="309657" cy="721042"/>
          </a:xfrm>
          <a:custGeom>
            <a:avLst/>
            <a:gdLst/>
            <a:ahLst/>
            <a:cxnLst/>
            <a:rect l="0" t="0" r="32" b="75"/>
            <a:pathLst>
              <a:path w="32" h="75" fill="none">
                <a:moveTo>
                  <a:pt x="31" y="74"/>
                </a:moveTo>
                <a:lnTo>
                  <a:pt x="2" y="2"/>
                </a:lnTo>
              </a:path>
            </a:pathLst>
          </a:custGeom>
          <a:noFill/>
          <a:ln w="13970" cap="flat">
            <a:solidFill>
              <a:srgbClr val="8B9BB0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9198768" y="2863691"/>
            <a:ext cx="309657" cy="721042"/>
          </a:xfrm>
          <a:custGeom>
            <a:avLst/>
            <a:gdLst/>
            <a:ahLst/>
            <a:cxnLst/>
            <a:rect l="0" t="0" r="32" b="75"/>
            <a:pathLst>
              <a:path w="32" h="75" fill="none">
                <a:moveTo>
                  <a:pt x="2" y="74"/>
                </a:moveTo>
                <a:lnTo>
                  <a:pt x="31" y="2"/>
                </a:lnTo>
              </a:path>
            </a:pathLst>
          </a:custGeom>
          <a:noFill/>
          <a:ln w="13970" cap="flat">
            <a:solidFill>
              <a:srgbClr val="8B9BB0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790700" y="3476625"/>
            <a:ext cx="990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主管</a:t>
            </a:r>
          </a:p>
          <a:p>
            <a:pPr algn="ctr">
              <a:lnSpc>
                <a:spcPts val="1170"/>
              </a:lnSpc>
            </a:pPr>
            <a:r>
              <a:rPr sz="90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Orchestrator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2571750"/>
            <a:ext cx="9144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70"/>
              </a:lnSpc>
            </a:pPr>
            <a:r>
              <a:rPr sz="98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研究员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48000" y="2571750"/>
            <a:ext cx="9144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70"/>
              </a:lnSpc>
            </a:pPr>
            <a:r>
              <a:rPr sz="98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程序员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66900" y="4476750"/>
            <a:ext cx="9144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70"/>
              </a:lnSpc>
            </a:pPr>
            <a:r>
              <a:rPr sz="98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审核员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7250" y="2495550"/>
            <a:ext cx="28575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70"/>
              </a:lnSpc>
            </a:pPr>
            <a:r>
              <a:rPr sz="98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需求分析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7250" y="3009900"/>
            <a:ext cx="28575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70"/>
              </a:lnSpc>
            </a:pPr>
            <a:r>
              <a:rPr sz="98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7250" y="3524250"/>
            <a:ext cx="28575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70"/>
              </a:lnSpc>
            </a:pPr>
            <a:r>
              <a:rPr sz="98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编码实现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7250" y="4038600"/>
            <a:ext cx="28575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70"/>
              </a:lnSpc>
            </a:pPr>
            <a:r>
              <a:rPr sz="98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测试验证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7250" y="4552950"/>
            <a:ext cx="28575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70"/>
              </a:lnSpc>
            </a:pPr>
            <a:r>
              <a:rPr sz="98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文档撰写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86900" y="2571750"/>
            <a:ext cx="8382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70"/>
              </a:lnSpc>
            </a:pPr>
            <a:r>
              <a:rPr sz="98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分析师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91800" y="3533775"/>
            <a:ext cx="8382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70"/>
              </a:lnSpc>
            </a:pPr>
            <a:r>
              <a:rPr sz="98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工程师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86900" y="4495800"/>
            <a:ext cx="8382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70"/>
              </a:lnSpc>
            </a:pPr>
            <a:r>
              <a:rPr sz="98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评审员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0" y="3533775"/>
            <a:ext cx="8382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270"/>
              </a:lnSpc>
            </a:pPr>
            <a:r>
              <a:rPr sz="98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检索员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8800" y="3495675"/>
            <a:ext cx="9144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主持人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9600" y="508635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09600" y="590550"/>
            <a:ext cx="571500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880"/>
              </a:lnSpc>
            </a:pPr>
            <a:r>
              <a:rPr sz="24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多智能体协作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9600" y="1066800"/>
            <a:ext cx="533400" cy="38100"/>
          </a:xfrm>
          <a:prstGeom prst="rect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1257300" y="990600"/>
            <a:ext cx="4381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170"/>
              </a:lnSpc>
            </a:pPr>
            <a:r>
              <a:rPr sz="980" b="0" i="0" spc="15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MULTI-AGENT COLLABORATION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9600" y="1428750"/>
            <a:ext cx="1097280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112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核心思想：单个 Agent 的能力有上限，把复杂任务拆给多个专职 Agent，通过消息传递协作，可以显著提升复杂任务的完成质量。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9600" y="1847850"/>
            <a:ext cx="33528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① 主管制 Supervisor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9600" y="2095500"/>
            <a:ext cx="33528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一个 Orchestrator 主管负责拆解任务、分派给专职 Agent，再汇</a:t>
            </a:r>
          </a:p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总结果。结构清晰、易调试，最常用。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19600" y="1847850"/>
            <a:ext cx="33528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② 流水线 Pipeline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19600" y="2095500"/>
            <a:ext cx="33528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Agent 按固定顺序接力，每个 Agent 的输出是下一个的输入。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1847850"/>
            <a:ext cx="33528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③ 群聊制 Group Chat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0" y="2095500"/>
            <a:ext cx="33528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多个 Agent 在共享会话里自由讨论，由主持人控制发言顺序。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9600" y="5200650"/>
            <a:ext cx="1905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270"/>
              </a:lnSpc>
            </a:pPr>
            <a:r>
              <a:rPr sz="980" b="1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关键机制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9600" y="5429250"/>
            <a:ext cx="25908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共享记忆 · 所有 Agent 读写同一个任务状态（黑板 </a:t>
            </a:r>
          </a:p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Blackboard 模式）。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52800" y="5429250"/>
            <a:ext cx="25908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消息协议 · Agent 之间用结构化消息通信（角色 / </a:t>
            </a:r>
          </a:p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内容 / 工具调用 / 结果）。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96000" y="5429250"/>
            <a:ext cx="25908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角色分工 · 每个 Agent 有独立的系统提示词、工具</a:t>
            </a:r>
          </a:p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集与职责边界。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39200" y="5429250"/>
            <a:ext cx="27432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冲突解决 · 由主管 Agent 裁决，或引入投票 / 评审机</a:t>
            </a:r>
          </a:p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制。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9600" y="5981700"/>
            <a:ext cx="5334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典型框架：AutoGen · CrewAI · LangGraph · MetaGPT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96000" y="5981700"/>
            <a:ext cx="54864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风险提示：Agent 越多，通信开销、错误传播与调试难度越高——不是越多越好。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1-el_b658f9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2300" y="5448300"/>
            <a:ext cx="3962400" cy="3962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800100" y="-800100"/>
            <a:ext cx="1143000" cy="1143000"/>
          </a:xfrm>
          <a:prstGeom prst="rect">
            <a:avLst/>
          </a:prstGeom>
          <a:noFill/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09600" y="4191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09600" y="2857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4000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大模型发展路径与技术原理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0" y="6534150"/>
            <a:ext cx="11049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828800"/>
            <a:ext cx="51054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477000" y="1828800"/>
            <a:ext cx="51054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09600" y="628650"/>
            <a:ext cx="5905500" cy="152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080"/>
              </a:lnSpc>
            </a:pPr>
            <a:r>
              <a:rPr sz="900" b="0" i="0" spc="15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CAPABILITIES &amp;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466850"/>
            <a:ext cx="51054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能力：从量变到质变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1466850"/>
            <a:ext cx="51054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局限：仍然存在的硬约束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2076450"/>
            <a:ext cx="114300" cy="19050"/>
          </a:xfrm>
          <a:prstGeom prst="rect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19150" y="1962150"/>
            <a:ext cx="489585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40"/>
              </a:lnSpc>
            </a:pPr>
            <a:r>
              <a:rPr sz="12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涌现能力 Emergent 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50" y="2171700"/>
            <a:ext cx="48958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在小模型上几乎为零，规模跨过某个阈值后突然出现：多步算术、符号推理、跨语言迁</a:t>
            </a:r>
          </a:p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移、上下文学习。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2857500"/>
            <a:ext cx="114300" cy="19050"/>
          </a:xfrm>
          <a:prstGeom prst="rect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9150" y="2743200"/>
            <a:ext cx="489585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40"/>
              </a:lnSpc>
            </a:pPr>
            <a:r>
              <a:rPr sz="12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上下文学习 In-Context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" y="2952750"/>
            <a:ext cx="48958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不改一个参数，只在提示里给几个示例，模型就能学会新任务（few-shot）。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3638550"/>
            <a:ext cx="114300" cy="19050"/>
          </a:xfrm>
          <a:prstGeom prst="rect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19150" y="3524250"/>
            <a:ext cx="489585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40"/>
              </a:lnSpc>
            </a:pPr>
            <a:r>
              <a:rPr sz="12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指令跟随 Instruction Following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150" y="3733800"/>
            <a:ext cx="48958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经过对齐后，模型能理解并执行从未见过的复杂指令，并保持稳定的输出格式。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" y="4419600"/>
            <a:ext cx="114300" cy="19050"/>
          </a:xfrm>
          <a:prstGeom prst="rect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19150" y="4305300"/>
            <a:ext cx="489585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40"/>
              </a:lnSpc>
            </a:pPr>
            <a:r>
              <a:rPr sz="12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工具增强 Tool 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150" y="4514850"/>
            <a:ext cx="48958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接入检索、代码执行与外部 API 后，能力边界从「训练数据内」扩展到「实时世界」。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" y="5200650"/>
            <a:ext cx="114300" cy="19050"/>
          </a:xfrm>
          <a:prstGeom prst="rect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9150" y="5086350"/>
            <a:ext cx="489585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40"/>
              </a:lnSpc>
            </a:pPr>
            <a:r>
              <a:rPr sz="12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推理时计算 Test-Time Compute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150" y="5295900"/>
            <a:ext cx="48958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回答前生成更长的思维链，用推理时间换准确率——这是 2024 年后推理模型的核心思</a:t>
            </a:r>
          </a:p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路。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77000" y="2076450"/>
            <a:ext cx="114300" cy="19050"/>
          </a:xfrm>
          <a:prstGeom prst="rect">
            <a:avLst/>
          </a:prstGeom>
          <a:solidFill>
            <a:srgbClr val="8B9BB0"/>
          </a:solidFill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686550" y="1962150"/>
            <a:ext cx="489585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40"/>
              </a:lnSpc>
            </a:pPr>
            <a:r>
              <a:rPr sz="12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幻觉 Hallucination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86550" y="2171700"/>
            <a:ext cx="48958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生成流畅但事实错误的内容，且语气往往自信。它优化的是「下一个词的概率」，不是</a:t>
            </a:r>
          </a:p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「事实为真」。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77000" y="2705100"/>
            <a:ext cx="114300" cy="19050"/>
          </a:xfrm>
          <a:prstGeom prst="rect">
            <a:avLst/>
          </a:prstGeom>
          <a:solidFill>
            <a:srgbClr val="8B9BB0"/>
          </a:solidFill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686550" y="2590800"/>
            <a:ext cx="489585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40"/>
              </a:lnSpc>
            </a:pPr>
            <a:r>
              <a:rPr sz="12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知识截止 Knowledge Cutoff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86550" y="2800350"/>
            <a:ext cx="48958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参数里的事实停留在训练数据的时间点，无法自动更新。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77000" y="3333750"/>
            <a:ext cx="114300" cy="19050"/>
          </a:xfrm>
          <a:prstGeom prst="rect">
            <a:avLst/>
          </a:prstGeom>
          <a:solidFill>
            <a:srgbClr val="8B9BB0"/>
          </a:solidFill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686550" y="3219450"/>
            <a:ext cx="489585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40"/>
              </a:lnSpc>
            </a:pPr>
            <a:r>
              <a:rPr sz="12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上下文与注意力衰减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86550" y="3429000"/>
            <a:ext cx="48958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超长上下文中，中间部分的信息容易被忽略——「迷失在中间」。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77000" y="3962400"/>
            <a:ext cx="114300" cy="19050"/>
          </a:xfrm>
          <a:prstGeom prst="rect">
            <a:avLst/>
          </a:prstGeom>
          <a:solidFill>
            <a:srgbClr val="8B9BB0"/>
          </a:solidFill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686550" y="3848100"/>
            <a:ext cx="489585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40"/>
              </a:lnSpc>
            </a:pPr>
            <a:r>
              <a:rPr sz="12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推理脆弱 Fragile Reasoning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86550" y="4057650"/>
            <a:ext cx="48958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多步推理中一步出错会连锁放大，且对提示措辞相当敏感。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77000" y="4591050"/>
            <a:ext cx="114300" cy="19050"/>
          </a:xfrm>
          <a:prstGeom prst="rect">
            <a:avLst/>
          </a:prstGeom>
          <a:solidFill>
            <a:srgbClr val="8B9BB0"/>
          </a:solidFill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686550" y="4476750"/>
            <a:ext cx="489585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40"/>
              </a:lnSpc>
            </a:pPr>
            <a:r>
              <a:rPr sz="12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成本与能耗 Cost &amp; Energy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86550" y="4686300"/>
            <a:ext cx="48958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训练与推理的算力开销巨大，长上下文推理成本随长度平方增长。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77000" y="5219700"/>
            <a:ext cx="114300" cy="19050"/>
          </a:xfrm>
          <a:prstGeom prst="rect">
            <a:avLst/>
          </a:prstGeom>
          <a:solidFill>
            <a:srgbClr val="8B9BB0"/>
          </a:solidFill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686550" y="5105400"/>
            <a:ext cx="489585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40"/>
              </a:lnSpc>
            </a:pPr>
            <a:r>
              <a:rPr sz="12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安全与对齐风险 Safety &amp; Alignment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86550" y="5314950"/>
            <a:ext cx="48958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可能被越狱提示绕过、产生偏见，或被用于生成有害内容。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600" y="781050"/>
            <a:ext cx="781050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880"/>
              </a:lnSpc>
            </a:pPr>
            <a:r>
              <a:rPr sz="24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大模型的能力与局限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9600" y="1257300"/>
            <a:ext cx="533400" cy="28575"/>
          </a:xfrm>
          <a:prstGeom prst="rect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6096000" y="1485900"/>
            <a:ext cx="9525" cy="4267200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609600" y="5915025"/>
            <a:ext cx="304800" cy="28575"/>
          </a:xfrm>
          <a:prstGeom prst="rect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1066800" y="5810250"/>
            <a:ext cx="10515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1120" b="0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大模型的能力来自规模与对齐，局限也来自同一处——它学的是语言的统计规律，而不是世界的因果模型。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1-el_b658f9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2300" y="5448300"/>
            <a:ext cx="3962400" cy="3962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800100" y="-800100"/>
            <a:ext cx="1143000" cy="1143000"/>
          </a:xfrm>
          <a:prstGeom prst="rect">
            <a:avLst/>
          </a:prstGeom>
          <a:noFill/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09600" y="4191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09600" y="2857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4000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大模型发展路径与技术原理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0" y="6534150"/>
            <a:ext cx="11049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1619250"/>
            <a:ext cx="3048000" cy="1333500"/>
          </a:xfrm>
          <a:prstGeom prst="roundRect">
            <a:avLst>
              <a:gd name="adj" fmla="val 8571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4572000" y="1619250"/>
            <a:ext cx="3048000" cy="1333500"/>
          </a:xfrm>
          <a:prstGeom prst="roundRect">
            <a:avLst>
              <a:gd name="adj" fmla="val 8571"/>
            </a:avLst>
          </a:prstGeom>
          <a:solidFill>
            <a:srgbClr val="16202C"/>
          </a:solidFill>
          <a:ln w="13970" cap="flat">
            <a:solidFill>
              <a:srgbClr val="38BDF8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382000" y="1619250"/>
            <a:ext cx="3048000" cy="1333500"/>
          </a:xfrm>
          <a:prstGeom prst="roundRect">
            <a:avLst>
              <a:gd name="adj" fmla="val 8571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09600" y="3905250"/>
            <a:ext cx="10972800" cy="685800"/>
          </a:xfrm>
          <a:prstGeom prst="roundRect">
            <a:avLst>
              <a:gd name="adj" fmla="val 16666"/>
            </a:avLst>
          </a:prstGeom>
          <a:solidFill>
            <a:srgbClr val="16202C"/>
          </a:solidFill>
          <a:ln w="1397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09600" y="5410200"/>
            <a:ext cx="1428750" cy="361950"/>
          </a:xfrm>
          <a:prstGeom prst="roundRect">
            <a:avLst>
              <a:gd name="adj" fmla="val 50000"/>
            </a:avLst>
          </a:prstGeom>
          <a:solidFill>
            <a:srgbClr val="16202C"/>
          </a:solidFill>
          <a:ln w="10160" cap="flat">
            <a:solidFill>
              <a:srgbClr val="38BDF8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2171700" y="5410200"/>
            <a:ext cx="1428750" cy="361950"/>
          </a:xfrm>
          <a:prstGeom prst="roundRect">
            <a:avLst>
              <a:gd name="adj" fmla="val 50000"/>
            </a:avLst>
          </a:prstGeom>
          <a:solidFill>
            <a:srgbClr val="16202C"/>
          </a:solidFill>
          <a:ln w="10160" cap="flat">
            <a:solidFill>
              <a:srgbClr val="38BDF8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3733800" y="5410200"/>
            <a:ext cx="1428750" cy="361950"/>
          </a:xfrm>
          <a:prstGeom prst="roundRect">
            <a:avLst>
              <a:gd name="adj" fmla="val 50000"/>
            </a:avLst>
          </a:prstGeom>
          <a:solidFill>
            <a:srgbClr val="16202C"/>
          </a:solidFill>
          <a:ln w="10160" cap="flat">
            <a:solidFill>
              <a:srgbClr val="38BDF8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793331" y="2231231"/>
            <a:ext cx="795337" cy="109537"/>
          </a:xfrm>
          <a:custGeom>
            <a:avLst/>
            <a:gdLst/>
            <a:ahLst/>
            <a:cxnLst/>
            <a:rect l="0" t="0" r="83" b="11"/>
            <a:pathLst>
              <a:path w="83" h="11" fill="none">
                <a:moveTo>
                  <a:pt x="2" y="6"/>
                </a:moveTo>
                <a:lnTo>
                  <a:pt x="82" y="6"/>
                </a:lnTo>
              </a:path>
            </a:pathLst>
          </a:custGeom>
          <a:noFill/>
          <a:ln w="13970" cap="flat">
            <a:solidFill>
              <a:srgbClr val="38BDF8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603331" y="2231231"/>
            <a:ext cx="795337" cy="109537"/>
          </a:xfrm>
          <a:custGeom>
            <a:avLst/>
            <a:gdLst/>
            <a:ahLst/>
            <a:cxnLst/>
            <a:rect l="0" t="0" r="83" b="11"/>
            <a:pathLst>
              <a:path w="83" h="11" fill="none">
                <a:moveTo>
                  <a:pt x="2" y="6"/>
                </a:moveTo>
                <a:lnTo>
                  <a:pt x="82" y="6"/>
                </a:lnTo>
              </a:path>
            </a:pathLst>
          </a:custGeom>
          <a:noFill/>
          <a:ln w="13970" cap="flat">
            <a:solidFill>
              <a:srgbClr val="38BDF8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9889331" y="2936081"/>
            <a:ext cx="33337" cy="776287"/>
          </a:xfrm>
          <a:custGeom>
            <a:avLst/>
            <a:gdLst/>
            <a:ahLst/>
            <a:cxnLst/>
            <a:rect l="0" t="0" r="3" b="81"/>
            <a:pathLst>
              <a:path w="3" h="81" fill="none">
                <a:moveTo>
                  <a:pt x="2" y="2"/>
                </a:moveTo>
                <a:lnTo>
                  <a:pt x="2" y="80"/>
                </a:lnTo>
              </a:path>
            </a:pathLst>
          </a:custGeom>
          <a:noFill/>
          <a:ln w="13970" cap="flat">
            <a:solidFill>
              <a:srgbClr val="38BDF8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2269331" y="3679031"/>
            <a:ext cx="7653337" cy="33337"/>
          </a:xfrm>
          <a:custGeom>
            <a:avLst/>
            <a:gdLst/>
            <a:ahLst/>
            <a:cxnLst/>
            <a:rect l="0" t="0" r="803" b="3"/>
            <a:pathLst>
              <a:path w="803" h="3" fill="none">
                <a:moveTo>
                  <a:pt x="802" y="2"/>
                </a:moveTo>
                <a:lnTo>
                  <a:pt x="2" y="2"/>
                </a:lnTo>
              </a:path>
            </a:pathLst>
          </a:custGeom>
          <a:noFill/>
          <a:ln w="13970" cap="flat">
            <a:solidFill>
              <a:srgbClr val="38BDF8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2231231" y="2936081"/>
            <a:ext cx="109537" cy="776287"/>
          </a:xfrm>
          <a:custGeom>
            <a:avLst/>
            <a:gdLst/>
            <a:ahLst/>
            <a:cxnLst/>
            <a:rect l="0" t="0" r="11" b="81"/>
            <a:pathLst>
              <a:path w="11" h="81" fill="none">
                <a:moveTo>
                  <a:pt x="6" y="80"/>
                </a:moveTo>
                <a:lnTo>
                  <a:pt x="6" y="2"/>
                </a:lnTo>
              </a:path>
            </a:pathLst>
          </a:custGeom>
          <a:noFill/>
          <a:ln w="13970" cap="flat">
            <a:solidFill>
              <a:srgbClr val="38BDF8"/>
            </a:solidFill>
            <a:round/>
            <a:tailEnd type="triangle" w="med" len="med"/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62000" y="1771650"/>
            <a:ext cx="30480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080"/>
              </a:lnSpc>
            </a:pPr>
            <a:r>
              <a:rPr sz="900" b="0" i="0" spc="75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第一步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2019300"/>
            <a:ext cx="30480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800"/>
              </a:lnSpc>
            </a:pPr>
            <a:r>
              <a:rPr sz="15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收集偏好数据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500" y="2400300"/>
            <a:ext cx="2667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4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同一 prompt 生成多个回答，人工标注员排序</a:t>
            </a:r>
          </a:p>
          <a:p>
            <a:pPr algn="ctr">
              <a:lnSpc>
                <a:spcPts val="14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（A 比 B 好）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1771650"/>
            <a:ext cx="30480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080"/>
              </a:lnSpc>
            </a:pPr>
            <a:r>
              <a:rPr sz="900" b="0" i="0" spc="75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第二步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019300"/>
            <a:ext cx="30480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800"/>
              </a:lnSpc>
            </a:pPr>
            <a:r>
              <a:rPr sz="15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训练奖励模型 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2500" y="2400300"/>
            <a:ext cx="2667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4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输入 prompt + 回答，输出标量分数，代表人类</a:t>
            </a:r>
          </a:p>
          <a:p>
            <a:pPr algn="ctr">
              <a:lnSpc>
                <a:spcPts val="14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偏好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0" y="1771650"/>
            <a:ext cx="30480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080"/>
              </a:lnSpc>
            </a:pPr>
            <a:r>
              <a:rPr sz="900" b="0" i="0" spc="75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第三步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0" y="2019300"/>
            <a:ext cx="30480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800"/>
              </a:lnSpc>
            </a:pPr>
            <a:r>
              <a:rPr sz="15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强化学习优化 PPO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2500" y="2400300"/>
            <a:ext cx="2667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4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以 RM 分数为奖励更新策略，KL 惩罚防止跑偏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0000" y="1390650"/>
            <a:ext cx="7620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990"/>
              </a:lnSpc>
            </a:pPr>
            <a:r>
              <a:rPr sz="819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偏好数据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0" y="1390650"/>
            <a:ext cx="7620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990"/>
              </a:lnSpc>
            </a:pPr>
            <a:r>
              <a:rPr sz="819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奖励信号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3500" y="3448050"/>
            <a:ext cx="19050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990"/>
              </a:lnSpc>
            </a:pPr>
            <a:r>
              <a:rPr sz="819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闭环迭代 · 策略持续改进</a:t>
            </a:r>
          </a:p>
        </p:txBody>
      </p:sp>
      <p:pic>
        <p:nvPicPr>
          <p:cNvPr id="33" name="Picture 32" descr="crop-19-el_ff7823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448050"/>
            <a:ext cx="11887200" cy="16002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09600" y="4686300"/>
            <a:ext cx="109728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5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DPO 的简化：Direct Preference Optimization 直接用偏好数据优化策略，跳过「训练奖励模型 + 强化学习」两步，把 RLHF 变成简单的分类损失——更稳定、更省算力，已成为开源模</a:t>
            </a:r>
          </a:p>
          <a:p>
            <a:pPr algn="l">
              <a:lnSpc>
                <a:spcPts val="1580"/>
              </a:lnSpc>
            </a:pPr>
            <a:r>
              <a:rPr sz="105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型的主流选择。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5181600"/>
            <a:ext cx="2286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170"/>
              </a:lnSpc>
            </a:pPr>
            <a:r>
              <a:rPr sz="980" b="0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对齐三目标 · 3H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5410200"/>
            <a:ext cx="1428750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170"/>
              </a:lnSpc>
            </a:pPr>
            <a:r>
              <a:rPr sz="980" b="0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有用 Helpful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71700" y="5410200"/>
            <a:ext cx="1428750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170"/>
              </a:lnSpc>
            </a:pPr>
            <a:r>
              <a:rPr sz="980" b="0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诚实 Honest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3800" y="5410200"/>
            <a:ext cx="1428750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170"/>
              </a:lnSpc>
            </a:pPr>
            <a:r>
              <a:rPr sz="980" b="0" i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无害 Harmless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34000" y="5410200"/>
            <a:ext cx="6248400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现实挑战：奖励黑客（模型学会讨好打分器而非真正有用）· 过度拒答 · 谄媚倾向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600" y="1085850"/>
            <a:ext cx="533400" cy="38100"/>
          </a:xfrm>
          <a:prstGeom prst="rect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09600" y="609600"/>
            <a:ext cx="66675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880"/>
              </a:lnSpc>
            </a:pPr>
            <a:r>
              <a:rPr sz="24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对齐与 RLHF 流程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57300" y="1104900"/>
            <a:ext cx="43815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080"/>
              </a:lnSpc>
            </a:pPr>
            <a:r>
              <a:rPr sz="900" b="0" i="0" spc="75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ALIGNMENT · RLHF · DPO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-1-el_b658f9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2300" y="5448300"/>
            <a:ext cx="3962400" cy="3962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800100" y="-800100"/>
            <a:ext cx="1143000" cy="1143000"/>
          </a:xfrm>
          <a:prstGeom prst="rect">
            <a:avLst/>
          </a:prstGeom>
          <a:noFill/>
          <a:ln w="10160" cap="flat">
            <a:solidFill>
              <a:srgbClr val="243040"/>
            </a:solidFill>
            <a:miter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09600" y="4191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243040"/>
          </a:solidFill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09600" y="2857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4000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大模型发展路径与技术原理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0" y="6534150"/>
            <a:ext cx="11049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ts val="1360"/>
              </a:lnSpc>
            </a:pPr>
            <a:r>
              <a:rPr sz="98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pic>
        <p:nvPicPr>
          <p:cNvPr id="9" name="Picture 8" descr="crop-20-el_e224ac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1162050"/>
            <a:ext cx="3771900" cy="37719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953625" y="1571625"/>
            <a:ext cx="95250" cy="95250"/>
          </a:xfrm>
          <a:prstGeom prst="ellipse">
            <a:avLst/>
          </a:prstGeom>
          <a:solidFill>
            <a:srgbClr val="38BDF8"/>
          </a:solidFill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33500" y="1905000"/>
            <a:ext cx="5334000" cy="1047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6930"/>
              </a:lnSpc>
            </a:pPr>
            <a:r>
              <a:rPr sz="6300" b="1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3276600"/>
            <a:ext cx="704850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480"/>
              </a:lnSpc>
            </a:pPr>
            <a:r>
              <a:rPr sz="1650" b="0" i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理解大模型，就是理解「注意力 + 规模 + 对齐」这三件事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2550" y="3829050"/>
            <a:ext cx="68580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10"/>
              </a:lnSpc>
            </a:pPr>
            <a:r>
              <a:rPr sz="112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从 Transformer 的注意力机制，到预训练与对齐，再到能规划、能调用工具的 Agent——这条路还在延伸。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2550" y="5829300"/>
            <a:ext cx="3810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>
                <a:solidFill>
                  <a:srgbClr val="8B9BB0"/>
                </a:solidFill>
                <a:latin typeface="Microsoft YaHei"/>
                <a:ea typeface="Microsoft YaHei"/>
                <a:cs typeface="Microsoft YaHei"/>
              </a:rPr>
              <a:t>技术分享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